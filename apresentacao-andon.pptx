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e74d636-3e3b-9278-ae02-ea1b29dc2ed2}">
          <p14:sldIdLst>
            <p14:sldId id="256"/>
          </p14:sldIdLst>
        </p14:section>
        <p14:section name="Conceito" id="{118ef3a6-1d92-12e2-898c-c623706ef25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Aplicação" id="{2f10b7a6-d1d6-094b-2d48-66b7e9f6c54b}">
          <p14:sldIdLst>
            <p14:sldId id="263"/>
            <p14:sldId id="264"/>
          </p14:sldIdLst>
        </p14:section>
        <p14:section name="Prática" id="{5beb476f-26ba-0b49-e219-7de9ab5c7b34}">
          <p14:sldIdLst>
            <p14:sldId id="265"/>
            <p14:sldId id="266"/>
            <p14:sldId id="267"/>
          </p14:sldIdLst>
        </p14:section>
        <p14:section name="Fechamento" id="{0a8b9c98-737a-b712-702f-a4809ccb122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grupo. Apresentar o tema e os integrantes.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apresenta um caso (cerca de 1 min cada). Ajustem os cartões aos exemplos combinados no grupo, sem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Meu exemplo é na logística, em um centro de distribuição. O colaborador está separando um pedido e percebe um item trocado ou faltando. Em vez de seguir, ele aciona o Andon. A liderança vem até o posto e confere o pedido antes da expedição. O erro é corrigido ali, e não na casa do cliente. Isso evita devolução, reenvio e custo extra. Como o chamado fica registrado, a equipe descobre onde os erros se repetem, por exemplo produtos parecidos guardados lado a lado. É o mesmo princípio do Andon: sinalizar, chamar ajuda e corrigir antes de o problema avançar.
Se perguntarem: o Andon não corrige o pedido sozinho. Ele faz o erro aparecer e chama a liderança antes da expedição.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vamos ver o Andon funcionando. Vamos simular uma linha de montagem. O produto é um triângulo de papel. Eu criei este simulador. Ele tem três partes.
A primeira é o HTML. Ele cria a estrutura: os campos, os botões, o painel de chamados, a torre de sinalização e o histórico.
A segunda é o CSS. Ele cuida da aparência: as cores, os painéis, as luzes e a adaptação à tela.
A terceira é o JavaScript. Ele faz funcionar: abre os chamados, muda os status, atualiza as luzes, conta as ocorrências e registra o histórico.
Atenção: o simulador é didático. Ele registra os chamados. A reposição do papel e a produção serão feitas por nós, aqui na mesa.
O integrante 1 é o operador da montagem. O integrante 2 faz a inspeção. O integrante 3 é a Logística. Eu cuido do simulador.
(Apontar a torre) A luz está verde. A produção está normal.
Se estiver atrasado: resumir HTML, CSS e JavaScript em 15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 (produção): Nossa linha está funcionando normalmente. O operador monta. A inspeção confere. Até que ocorre uma situação que impede a continuidade da produção. (Não clicar em nada.)
ETAPA 2 (problema): Integrante 1: "Atenção! Estamos sem papel na estação de montagem. Não consigo continuar a produção." Eu: O operador parou a linha. Ele não pode resolver sozinho. Ele precisa chamar quem abastece. Como ele faz isso? Aqui entra o Andon.
ETAPA 3 (acionamento): Mostrar os campos. Ler: Posto de montagem P-03. Falta de material. Prioridade alta. Responsável: Logística. Descrição: Falta de papel na estação de montagem. Produção parada. Clicar em ENVIAR CHAMADO (não em Acionar Andon). Fala: O chamado foi enviado. A luz ficou vermelha. Isso significa ocorrência aberta. O som avisa quem está por perto. O chamado foi direto para a Logística, que é o setor responsável. O painel mostra o chamado aberto e o histórico registrou a ocorrência.
ETAPA 4 (atendimento): Integrante 3 clica em Assumir chamado. Eu: A Logística recebeu o chamado. Ela assumiu o atendimento. A luz ficou amarela. Isso significa equipe em atendimento.
ETAPA 5 (resolução): Integrante 3 clica em Marcar resolvido. Eu: Com o problema resolvido, a produção foi retomada. A luz voltou ao verde. O histórico registrou quanto tempo levou, do chamado até a solução. Assim conseguimos acompanhar a ocorrência e a resposta do setor responsável. (Ler o tempo registrado.)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uma pergunta para vocês. O que poderia acontecer se o operador não tivesse como sinalizar essa falta de material?
(Esperar, contar até 5 em silêncio, aceitar 2 ou 3 respostas. Se ninguém responder: Pensem na fábrica de vocês. Se ninguém avisa, quem fica sabendo?)
Complemento: Isso mesmo. Sem sinalização, o problema demora mais a ser percebido. O tempo de parada aumenta. Os produtos incompletos se acumulam. Tudo isso gera atraso.
Dica: mostrar este slide só depois das respostas, ou mostrar apenas a pergunta e revelar os cartões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dinâmica mostrou que o Andon não resolve o problema sozinho. A função dele é sinalizar a ocorrência, facilitar a comunicação e direcionar o chamado para o setor certo. Dessa forma, a equipe age mais rápido e reduz o impacto na produção.
Para funcionar, a equipe precisa saber três coisas: quando acionar, quem deve responder e como registrar e resolver. Obrigado. Alguma pergunta?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udo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91440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9144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Andon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468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Gestão visual que sinaliza, chama ajuda e registra, na indústria e nos serviços</a:t>
            </a:r>
            <a:endParaRPr lang="en-US" sz="1800" dirty="0"/>
          </a:p>
        </p:txBody>
      </p:sp>
      <p:sp>
        <p:nvSpPr>
          <p:cNvPr id="4" name="Luz 0"/>
          <p:cNvSpPr/>
          <p:nvPr/>
        </p:nvSpPr>
        <p:spPr>
          <a:xfrm>
            <a:off x="457200" y="50292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Luz 1"/>
          <p:cNvSpPr/>
          <p:nvPr/>
        </p:nvSpPr>
        <p:spPr>
          <a:xfrm>
            <a:off x="868680" y="502920"/>
            <a:ext cx="274320" cy="27432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6" name="Luz 2"/>
          <p:cNvSpPr/>
          <p:nvPr/>
        </p:nvSpPr>
        <p:spPr>
          <a:xfrm>
            <a:off x="1280160" y="50292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Rodape da capa"/>
          <p:cNvSpPr txBox="1"/>
          <p:nvPr/>
        </p:nvSpPr>
        <p:spPr>
          <a:xfrm>
            <a:off x="457200" y="5120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Planejamento e Controle da Produção II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Prof. Albertin  |  AP2  |  20/10/2026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Sophia, Jaqueline, Tereza e Kellyson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 Origem</a:t>
            </a:r>
            <a:endParaRPr lang="en-US" sz="3200" dirty="0"/>
          </a:p>
        </p:txBody>
      </p:sp>
      <p:sp>
        <p:nvSpPr>
          <p:cNvPr id="3" name="Linha do tempo"/>
          <p:cNvSpPr/>
          <p:nvPr/>
        </p:nvSpPr>
        <p:spPr>
          <a:xfrm>
            <a:off x="960120" y="1600200"/>
            <a:ext cx="0" cy="3931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Marco 1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Marco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Cartao marco 1"/>
          <p:cNvSpPr/>
          <p:nvPr/>
        </p:nvSpPr>
        <p:spPr>
          <a:xfrm>
            <a:off x="1508760" y="1234440"/>
            <a:ext cx="512064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7" name="Texto marco 1"/>
          <p:cNvSpPr txBox="1"/>
          <p:nvPr/>
        </p:nvSpPr>
        <p:spPr>
          <a:xfrm>
            <a:off x="1691640" y="13258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1924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Tear automático de Sakichi Toyoda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Parava sozinho quando o fio quebrava. Nasce a ideia de parar diante do problema.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85800" y="2834640"/>
            <a:ext cx="548640" cy="54864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pic>
        <p:nvPicPr>
          <p:cNvPr id="9" name="Marco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71800"/>
            <a:ext cx="274320" cy="274320"/>
          </a:xfrm>
          <a:prstGeom prst="rect">
            <a:avLst/>
          </a:prstGeom>
        </p:spPr>
      </p:pic>
      <p:sp>
        <p:nvSpPr>
          <p:cNvPr id="10" name="Cartao marco 2"/>
          <p:cNvSpPr/>
          <p:nvPr/>
        </p:nvSpPr>
        <p:spPr>
          <a:xfrm>
            <a:off x="1508760" y="2697480"/>
            <a:ext cx="512064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1" name="Texto marco 2"/>
          <p:cNvSpPr txBox="1"/>
          <p:nvPr/>
        </p:nvSpPr>
        <p:spPr>
          <a:xfrm>
            <a:off x="1691640" y="27889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Anos 1950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Sistema Toyota de Produção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Taiichi Ohno leva a ideia para a linha: o operador sinaliza a anormalidade.</a:t>
            </a:r>
            <a:endParaRPr lang="en-US" sz="1400" dirty="0"/>
          </a:p>
        </p:txBody>
      </p:sp>
      <p:sp>
        <p:nvSpPr>
          <p:cNvPr id="12" name="Marco 3"/>
          <p:cNvSpPr/>
          <p:nvPr/>
        </p:nvSpPr>
        <p:spPr>
          <a:xfrm>
            <a:off x="685800" y="4297680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3" name="Marco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34840"/>
            <a:ext cx="274320" cy="274320"/>
          </a:xfrm>
          <a:prstGeom prst="rect">
            <a:avLst/>
          </a:prstGeom>
        </p:spPr>
      </p:pic>
      <p:sp>
        <p:nvSpPr>
          <p:cNvPr id="14" name="Cartao marco 3"/>
          <p:cNvSpPr/>
          <p:nvPr/>
        </p:nvSpPr>
        <p:spPr>
          <a:xfrm>
            <a:off x="1508760" y="4160520"/>
            <a:ext cx="512064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5" name="Texto marco 3"/>
          <p:cNvSpPr txBox="1"/>
          <p:nvPr/>
        </p:nvSpPr>
        <p:spPr>
          <a:xfrm>
            <a:off x="1691640" y="42519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Hoje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Indústria e serviços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Luzes, painéis, botões e sistemas de chamado em fábricas, hospitais e atendimento.</a:t>
            </a:r>
            <a:endParaRPr lang="en-US" sz="1400" dirty="0"/>
          </a:p>
        </p:txBody>
      </p:sp>
      <p:sp>
        <p:nvSpPr>
          <p:cNvPr id="16" name="Nota do nome"/>
          <p:cNvSpPr txBox="1"/>
          <p:nvPr/>
        </p:nvSpPr>
        <p:spPr>
          <a:xfrm>
            <a:off x="457200" y="5897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Andon</a:t>
            </a:r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 (行灯) = lanterna de papel em japonês. Na fábrica virou sinal luminoso.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2. Objetivo</a:t>
            </a:r>
            <a:endParaRPr lang="en-US" sz="3200" dirty="0"/>
          </a:p>
        </p:txBody>
      </p:sp>
      <p:sp>
        <p:nvSpPr>
          <p:cNvPr id="3" name="Cartao frase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Icone objetivo"/>
          <p:cNvSpPr/>
          <p:nvPr/>
        </p:nvSpPr>
        <p:spPr>
          <a:xfrm>
            <a:off x="685800" y="150876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" name="Icone objetivo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411480" cy="411480"/>
          </a:xfrm>
          <a:prstGeom prst="rect">
            <a:avLst/>
          </a:prstGeom>
        </p:spPr>
      </p:pic>
      <p:sp>
        <p:nvSpPr>
          <p:cNvPr id="6" name="Frase objetivo"/>
          <p:cNvSpPr txBox="1"/>
          <p:nvPr/>
        </p:nvSpPr>
        <p:spPr>
          <a:xfrm>
            <a:off x="1737360" y="1463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Tornar a anormalidade visível na hora, para que a pessoa certa aja rápido e o problema não avance.</a:t>
            </a:r>
            <a:endParaRPr lang="en-US" sz="1800" dirty="0"/>
          </a:p>
        </p:txBody>
      </p:sp>
      <p:sp>
        <p:nvSpPr>
          <p:cNvPr id="7" name="Cartao objetivo 1"/>
          <p:cNvSpPr/>
          <p:nvPr/>
        </p:nvSpPr>
        <p:spPr>
          <a:xfrm>
            <a:off x="457200" y="288036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8" name="Icone Sinalizar"/>
          <p:cNvSpPr/>
          <p:nvPr/>
        </p:nvSpPr>
        <p:spPr>
          <a:xfrm>
            <a:off x="1325880" y="3108960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cone Sinalizar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3314700"/>
            <a:ext cx="411480" cy="411480"/>
          </a:xfrm>
          <a:prstGeom prst="rect">
            <a:avLst/>
          </a:prstGeom>
        </p:spPr>
      </p:pic>
      <p:sp>
        <p:nvSpPr>
          <p:cNvPr id="10" name="Titulo Sinalizar"/>
          <p:cNvSpPr txBox="1"/>
          <p:nvPr/>
        </p:nvSpPr>
        <p:spPr>
          <a:xfrm>
            <a:off x="64008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Sinalizar</a:t>
            </a:r>
            <a:endParaRPr lang="en-US" sz="1800" dirty="0"/>
          </a:p>
        </p:txBody>
      </p:sp>
      <p:sp>
        <p:nvSpPr>
          <p:cNvPr id="11" name="Texto Sinalizar"/>
          <p:cNvSpPr txBox="1"/>
          <p:nvPr/>
        </p:nvSpPr>
        <p:spPr>
          <a:xfrm>
            <a:off x="685800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Avisar o problema no momento em que ele acontece.</a:t>
            </a:r>
            <a:endParaRPr lang="en-US" sz="1400" dirty="0"/>
          </a:p>
        </p:txBody>
      </p:sp>
      <p:sp>
        <p:nvSpPr>
          <p:cNvPr id="12" name="Cartao objetivo 2"/>
          <p:cNvSpPr/>
          <p:nvPr/>
        </p:nvSpPr>
        <p:spPr>
          <a:xfrm>
            <a:off x="3291840" y="288036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3" name="Icone Chamar ajuda"/>
          <p:cNvSpPr/>
          <p:nvPr/>
        </p:nvSpPr>
        <p:spPr>
          <a:xfrm>
            <a:off x="4160520" y="3108960"/>
            <a:ext cx="822960" cy="82296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pic>
        <p:nvPicPr>
          <p:cNvPr id="14" name="Icone Chamar ajuda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3314700"/>
            <a:ext cx="411480" cy="411480"/>
          </a:xfrm>
          <a:prstGeom prst="rect">
            <a:avLst/>
          </a:prstGeom>
        </p:spPr>
      </p:pic>
      <p:sp>
        <p:nvSpPr>
          <p:cNvPr id="15" name="Titulo Chamar ajuda"/>
          <p:cNvSpPr txBox="1"/>
          <p:nvPr/>
        </p:nvSpPr>
        <p:spPr>
          <a:xfrm>
            <a:off x="347472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Chamar ajuda</a:t>
            </a:r>
            <a:endParaRPr lang="en-US" sz="1800" dirty="0"/>
          </a:p>
        </p:txBody>
      </p:sp>
      <p:sp>
        <p:nvSpPr>
          <p:cNvPr id="16" name="Texto Chamar ajuda"/>
          <p:cNvSpPr txBox="1"/>
          <p:nvPr/>
        </p:nvSpPr>
        <p:spPr>
          <a:xfrm>
            <a:off x="3520440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Direcionar o chamado ao setor responsável.</a:t>
            </a:r>
            <a:endParaRPr lang="en-US" sz="1400" dirty="0"/>
          </a:p>
        </p:txBody>
      </p:sp>
      <p:sp>
        <p:nvSpPr>
          <p:cNvPr id="17" name="Cartao objetivo 3"/>
          <p:cNvSpPr/>
          <p:nvPr/>
        </p:nvSpPr>
        <p:spPr>
          <a:xfrm>
            <a:off x="6126480" y="288036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8" name="Icone Registrar"/>
          <p:cNvSpPr/>
          <p:nvPr/>
        </p:nvSpPr>
        <p:spPr>
          <a:xfrm>
            <a:off x="6995160" y="310896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9" name="Icone Registrar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3314700"/>
            <a:ext cx="411480" cy="411480"/>
          </a:xfrm>
          <a:prstGeom prst="rect">
            <a:avLst/>
          </a:prstGeom>
        </p:spPr>
      </p:pic>
      <p:sp>
        <p:nvSpPr>
          <p:cNvPr id="20" name="Titulo Registrar"/>
          <p:cNvSpPr txBox="1"/>
          <p:nvPr/>
        </p:nvSpPr>
        <p:spPr>
          <a:xfrm>
            <a:off x="630936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Registrar</a:t>
            </a:r>
            <a:endParaRPr lang="en-US" sz="1800" dirty="0"/>
          </a:p>
        </p:txBody>
      </p:sp>
      <p:sp>
        <p:nvSpPr>
          <p:cNvPr id="21" name="Texto Registrar"/>
          <p:cNvSpPr txBox="1"/>
          <p:nvPr/>
        </p:nvSpPr>
        <p:spPr>
          <a:xfrm>
            <a:off x="6355080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tempo de resposta e achar o que se repete.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3. Descrição</a:t>
            </a:r>
            <a:endParaRPr lang="en-US" sz="3200" dirty="0"/>
          </a:p>
        </p:txBody>
      </p:sp>
      <p:sp>
        <p:nvSpPr>
          <p:cNvPr id="3" name="Texto descricao"/>
          <p:cNvSpPr txBox="1"/>
          <p:nvPr/>
        </p:nvSpPr>
        <p:spPr>
          <a:xfrm>
            <a:off x="457200" y="13716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Ferramenta de gestão visual.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Um sinal (luz, som, painel ou sistema) mostra o estado do posto de trabalho. Quem vê o problema aciona. Quem é responsável responde.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Formas de acionar: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corda ou botão na linha, botão no caixa, alerta no sistema de atendimento.</a:t>
            </a:r>
            <a:endParaRPr lang="en-US" sz="1500" dirty="0"/>
          </a:p>
        </p:txBody>
      </p:sp>
      <p:sp>
        <p:nvSpPr>
          <p:cNvPr id="4" name="Cartao torre"/>
          <p:cNvSpPr/>
          <p:nvPr/>
        </p:nvSpPr>
        <p:spPr>
          <a:xfrm>
            <a:off x="5120640" y="1325880"/>
            <a:ext cx="3566160" cy="4754880"/>
          </a:xfrm>
          <a:prstGeom prst="roundRect">
            <a:avLst>
              <a:gd name="adj" fmla="val 205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5" name="Titulo torre"/>
          <p:cNvSpPr txBox="1"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Torre de sinalização</a:t>
            </a:r>
            <a:endParaRPr lang="en-US" sz="1600" dirty="0"/>
          </a:p>
        </p:txBody>
      </p:sp>
      <p:sp>
        <p:nvSpPr>
          <p:cNvPr id="6" name="Corpo torre"/>
          <p:cNvSpPr/>
          <p:nvPr/>
        </p:nvSpPr>
        <p:spPr>
          <a:xfrm>
            <a:off x="5532120" y="1965960"/>
            <a:ext cx="822960" cy="3566160"/>
          </a:xfrm>
          <a:prstGeom prst="roundRect">
            <a:avLst>
              <a:gd name="adj" fmla="val 11111"/>
            </a:avLst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7" name="Luz Vermelho"/>
          <p:cNvSpPr/>
          <p:nvPr/>
        </p:nvSpPr>
        <p:spPr>
          <a:xfrm>
            <a:off x="5623560" y="214884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Legenda Vermelho"/>
          <p:cNvSpPr txBox="1"/>
          <p:nvPr/>
        </p:nvSpPr>
        <p:spPr>
          <a:xfrm>
            <a:off x="6537960" y="2167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Vermelho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Ocorrência aberta</a:t>
            </a:r>
            <a:endParaRPr lang="en-US" sz="1400" dirty="0"/>
          </a:p>
        </p:txBody>
      </p:sp>
      <p:sp>
        <p:nvSpPr>
          <p:cNvPr id="9" name="Luz Amarelo"/>
          <p:cNvSpPr/>
          <p:nvPr/>
        </p:nvSpPr>
        <p:spPr>
          <a:xfrm>
            <a:off x="5623560" y="3291840"/>
            <a:ext cx="640080" cy="64008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0" name="Legenda Amarelo"/>
          <p:cNvSpPr txBox="1"/>
          <p:nvPr/>
        </p:nvSpPr>
        <p:spPr>
          <a:xfrm>
            <a:off x="6537960" y="3310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Amarelo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 atendimento</a:t>
            </a:r>
            <a:endParaRPr lang="en-US" sz="1400" dirty="0"/>
          </a:p>
        </p:txBody>
      </p:sp>
      <p:sp>
        <p:nvSpPr>
          <p:cNvPr id="11" name="Luz Verde"/>
          <p:cNvSpPr/>
          <p:nvPr/>
        </p:nvSpPr>
        <p:spPr>
          <a:xfrm>
            <a:off x="5623560" y="44348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Legenda Verde"/>
          <p:cNvSpPr txBox="1"/>
          <p:nvPr/>
        </p:nvSpPr>
        <p:spPr>
          <a:xfrm>
            <a:off x="6537960" y="4453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Operação normal</a:t>
            </a:r>
            <a:endParaRPr lang="en-US" sz="1400" dirty="0"/>
          </a:p>
        </p:txBody>
      </p:sp>
      <p:sp>
        <p:nvSpPr>
          <p:cNvPr id="13" name="Icone regra"/>
          <p:cNvSpPr/>
          <p:nvPr/>
        </p:nvSpPr>
        <p:spPr>
          <a:xfrm>
            <a:off x="457200" y="4800600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cone regra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937760"/>
            <a:ext cx="274320" cy="274320"/>
          </a:xfrm>
          <a:prstGeom prst="rect">
            <a:avLst/>
          </a:prstGeom>
        </p:spPr>
      </p:pic>
      <p:sp>
        <p:nvSpPr>
          <p:cNvPr id="15" name="Regra"/>
          <p:cNvSpPr txBox="1"/>
          <p:nvPr/>
        </p:nvSpPr>
        <p:spPr>
          <a:xfrm>
            <a:off x="1188720" y="4709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Andon não resolve o problema. Ele torna o problema visível e chama quem resolve.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4. Relação com o STP</a:t>
            </a:r>
            <a:endParaRPr lang="en-US" sz="3200" dirty="0"/>
          </a:p>
        </p:txBody>
      </p:sp>
      <p:sp>
        <p:nvSpPr>
          <p:cNvPr id="3" name="Cartao Jidoka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Icone Jidoka"/>
          <p:cNvSpPr/>
          <p:nvPr/>
        </p:nvSpPr>
        <p:spPr>
          <a:xfrm>
            <a:off x="640080" y="164592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cone Jidoka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817370"/>
            <a:ext cx="342900" cy="342900"/>
          </a:xfrm>
          <a:prstGeom prst="rect">
            <a:avLst/>
          </a:prstGeom>
        </p:spPr>
      </p:pic>
      <p:sp>
        <p:nvSpPr>
          <p:cNvPr id="6" name="Texto Jidoka"/>
          <p:cNvSpPr txBox="1"/>
          <p:nvPr/>
        </p:nvSpPr>
        <p:spPr>
          <a:xfrm>
            <a:off x="1508760" y="14630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Jidoka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Parar ou sinalizar diante da anormalidade. O Andon é o meio visível do Jidoka.</a:t>
            </a:r>
            <a:endParaRPr lang="en-US" sz="1400" dirty="0"/>
          </a:p>
        </p:txBody>
      </p:sp>
      <p:sp>
        <p:nvSpPr>
          <p:cNvPr id="7" name="Cartao Kaizen"/>
          <p:cNvSpPr/>
          <p:nvPr/>
        </p:nvSpPr>
        <p:spPr>
          <a:xfrm>
            <a:off x="4663440" y="13258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8" name="Icone Kaizen"/>
          <p:cNvSpPr/>
          <p:nvPr/>
        </p:nvSpPr>
        <p:spPr>
          <a:xfrm>
            <a:off x="4846320" y="16459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Icone Kaizen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817370"/>
            <a:ext cx="342900" cy="342900"/>
          </a:xfrm>
          <a:prstGeom prst="rect">
            <a:avLst/>
          </a:prstGeom>
        </p:spPr>
      </p:pic>
      <p:sp>
        <p:nvSpPr>
          <p:cNvPr id="10" name="Texto Kaizen"/>
          <p:cNvSpPr txBox="1"/>
          <p:nvPr/>
        </p:nvSpPr>
        <p:spPr>
          <a:xfrm>
            <a:off x="5715000" y="14630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Kaizen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chamados registrados mostram problemas recorrentes e orientam a melhoria.</a:t>
            </a:r>
            <a:endParaRPr lang="en-US" sz="1400" dirty="0"/>
          </a:p>
        </p:txBody>
      </p:sp>
      <p:sp>
        <p:nvSpPr>
          <p:cNvPr id="11" name="Cartao Just in Time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2" name="Icone Just in Time"/>
          <p:cNvSpPr/>
          <p:nvPr/>
        </p:nvSpPr>
        <p:spPr>
          <a:xfrm>
            <a:off x="640080" y="32461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cone Just in Time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417570"/>
            <a:ext cx="342900" cy="342900"/>
          </a:xfrm>
          <a:prstGeom prst="rect">
            <a:avLst/>
          </a:prstGeom>
        </p:spPr>
      </p:pic>
      <p:sp>
        <p:nvSpPr>
          <p:cNvPr id="14" name="Texto Just in Time"/>
          <p:cNvSpPr txBox="1"/>
          <p:nvPr/>
        </p:nvSpPr>
        <p:spPr>
          <a:xfrm>
            <a:off x="1508760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Just in Time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Falta de material vira sinal imediato, sem estoque escondendo o problema.</a:t>
            </a:r>
            <a:endParaRPr lang="en-US" sz="1400" dirty="0"/>
          </a:p>
        </p:txBody>
      </p:sp>
      <p:sp>
        <p:nvSpPr>
          <p:cNvPr id="15" name="Cartao Gestão visual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6" name="Icone Gestão visual"/>
          <p:cNvSpPr/>
          <p:nvPr/>
        </p:nvSpPr>
        <p:spPr>
          <a:xfrm>
            <a:off x="4846320" y="32461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7" name="Icone Gestão visual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417570"/>
            <a:ext cx="342900" cy="342900"/>
          </a:xfrm>
          <a:prstGeom prst="rect">
            <a:avLst/>
          </a:prstGeom>
        </p:spPr>
      </p:pic>
      <p:sp>
        <p:nvSpPr>
          <p:cNvPr id="18" name="Texto Gestão visual"/>
          <p:cNvSpPr txBox="1"/>
          <p:nvPr/>
        </p:nvSpPr>
        <p:spPr>
          <a:xfrm>
            <a:off x="5715000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visual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Qualquer pessoa entende o estado da linha só de olhar.</a:t>
            </a:r>
            <a:endParaRPr lang="en-US" sz="1400" dirty="0"/>
          </a:p>
        </p:txBody>
      </p:sp>
      <p:sp>
        <p:nvSpPr>
          <p:cNvPr id="19" name="Cartao Poka-Yoke"/>
          <p:cNvSpPr/>
          <p:nvPr/>
        </p:nvSpPr>
        <p:spPr>
          <a:xfrm>
            <a:off x="457200" y="4526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0" name="Icone Poka-Yoke"/>
          <p:cNvSpPr/>
          <p:nvPr/>
        </p:nvSpPr>
        <p:spPr>
          <a:xfrm>
            <a:off x="640080" y="48463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1" name="Icone Poka-Yoke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5017770"/>
            <a:ext cx="342900" cy="342900"/>
          </a:xfrm>
          <a:prstGeom prst="rect">
            <a:avLst/>
          </a:prstGeom>
        </p:spPr>
      </p:pic>
      <p:sp>
        <p:nvSpPr>
          <p:cNvPr id="22" name="Texto Poka-Yoke"/>
          <p:cNvSpPr txBox="1"/>
          <p:nvPr/>
        </p:nvSpPr>
        <p:spPr>
          <a:xfrm>
            <a:off x="1508760" y="46634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Poka-Yoke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Complementar: o Poka-Yoke previne o erro; o Andon sinaliza o que escapou.</a:t>
            </a:r>
            <a:endParaRPr lang="en-US" sz="1400" dirty="0"/>
          </a:p>
        </p:txBody>
      </p:sp>
      <p:sp>
        <p:nvSpPr>
          <p:cNvPr id="23" name="Cartao Respeito às pessoas"/>
          <p:cNvSpPr/>
          <p:nvPr/>
        </p:nvSpPr>
        <p:spPr>
          <a:xfrm>
            <a:off x="4663440" y="4526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4" name="Icone Respeito às pessoas"/>
          <p:cNvSpPr/>
          <p:nvPr/>
        </p:nvSpPr>
        <p:spPr>
          <a:xfrm>
            <a:off x="4846320" y="48463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cone Respeito às pessoas 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770" y="5017770"/>
            <a:ext cx="342900" cy="342900"/>
          </a:xfrm>
          <a:prstGeom prst="rect">
            <a:avLst/>
          </a:prstGeom>
        </p:spPr>
      </p:pic>
      <p:sp>
        <p:nvSpPr>
          <p:cNvPr id="26" name="Texto Respeito às pessoas"/>
          <p:cNvSpPr txBox="1"/>
          <p:nvPr/>
        </p:nvSpPr>
        <p:spPr>
          <a:xfrm>
            <a:off x="5715000" y="46634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Respeito às pessoas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operador tem autonomia para acionar e recebe apoio da equipe.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5. Critérios de desempenho</a:t>
            </a:r>
            <a:endParaRPr lang="en-US" sz="3200" dirty="0"/>
          </a:p>
        </p:txBody>
      </p:sp>
      <p:sp>
        <p:nvSpPr>
          <p:cNvPr id="3" name="Cartao Qualidade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Icone Qualidade"/>
          <p:cNvSpPr/>
          <p:nvPr/>
        </p:nvSpPr>
        <p:spPr>
          <a:xfrm>
            <a:off x="640080" y="1389888"/>
            <a:ext cx="603504" cy="60350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" name="Icone Qualidade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540764"/>
            <a:ext cx="301752" cy="301752"/>
          </a:xfrm>
          <a:prstGeom prst="rect">
            <a:avLst/>
          </a:prstGeom>
        </p:spPr>
      </p:pic>
      <p:sp>
        <p:nvSpPr>
          <p:cNvPr id="6" name="Titulo Qualidade"/>
          <p:cNvSpPr txBox="1"/>
          <p:nvPr/>
        </p:nvSpPr>
        <p:spPr>
          <a:xfrm>
            <a:off x="146304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Qualidade</a:t>
            </a:r>
            <a:endParaRPr lang="en-US" sz="1700" dirty="0"/>
          </a:p>
        </p:txBody>
      </p:sp>
      <p:sp>
        <p:nvSpPr>
          <p:cNvPr id="7" name="Texto Qualidade"/>
          <p:cNvSpPr txBox="1"/>
          <p:nvPr/>
        </p:nvSpPr>
        <p:spPr>
          <a:xfrm>
            <a:off x="3474720" y="1280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Defeito é contido antes de seguir para a próxima etapa.</a:t>
            </a:r>
            <a:endParaRPr lang="en-US" sz="1400" dirty="0"/>
          </a:p>
        </p:txBody>
      </p:sp>
      <p:sp>
        <p:nvSpPr>
          <p:cNvPr id="8" name="Cartao Velocidade"/>
          <p:cNvSpPr/>
          <p:nvPr/>
        </p:nvSpPr>
        <p:spPr>
          <a:xfrm>
            <a:off x="457200" y="22585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9" name="Icone Velocidade"/>
          <p:cNvSpPr/>
          <p:nvPr/>
        </p:nvSpPr>
        <p:spPr>
          <a:xfrm>
            <a:off x="640080" y="2368296"/>
            <a:ext cx="603504" cy="60350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0" name="Icone Velocidade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519172"/>
            <a:ext cx="301752" cy="301752"/>
          </a:xfrm>
          <a:prstGeom prst="rect">
            <a:avLst/>
          </a:prstGeom>
        </p:spPr>
      </p:pic>
      <p:sp>
        <p:nvSpPr>
          <p:cNvPr id="11" name="Titulo Velocidade"/>
          <p:cNvSpPr txBox="1"/>
          <p:nvPr/>
        </p:nvSpPr>
        <p:spPr>
          <a:xfrm>
            <a:off x="1463040" y="2258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Velocidade</a:t>
            </a:r>
            <a:endParaRPr lang="en-US" sz="1700" dirty="0"/>
          </a:p>
        </p:txBody>
      </p:sp>
      <p:sp>
        <p:nvSpPr>
          <p:cNvPr id="12" name="Texto Velocidade"/>
          <p:cNvSpPr txBox="1"/>
          <p:nvPr/>
        </p:nvSpPr>
        <p:spPr>
          <a:xfrm>
            <a:off x="3474720" y="22585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ajuda chega mais rápido. Menos tempo de parada.</a:t>
            </a:r>
            <a:endParaRPr lang="en-US" sz="1400" dirty="0"/>
          </a:p>
        </p:txBody>
      </p:sp>
      <p:sp>
        <p:nvSpPr>
          <p:cNvPr id="13" name="Cartao Confiabilidade"/>
          <p:cNvSpPr/>
          <p:nvPr/>
        </p:nvSpPr>
        <p:spPr>
          <a:xfrm>
            <a:off x="457200" y="3236976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4" name="Icone Confiabilidade"/>
          <p:cNvSpPr/>
          <p:nvPr/>
        </p:nvSpPr>
        <p:spPr>
          <a:xfrm>
            <a:off x="640080" y="3346704"/>
            <a:ext cx="603504" cy="60350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5" name="Icone Confiabilidade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497580"/>
            <a:ext cx="301752" cy="301752"/>
          </a:xfrm>
          <a:prstGeom prst="rect">
            <a:avLst/>
          </a:prstGeom>
        </p:spPr>
      </p:pic>
      <p:sp>
        <p:nvSpPr>
          <p:cNvPr id="16" name="Titulo Confiabilidade"/>
          <p:cNvSpPr txBox="1"/>
          <p:nvPr/>
        </p:nvSpPr>
        <p:spPr>
          <a:xfrm>
            <a:off x="1463040" y="32369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Confiabilidade</a:t>
            </a:r>
            <a:endParaRPr lang="en-US" sz="1700" dirty="0"/>
          </a:p>
        </p:txBody>
      </p:sp>
      <p:sp>
        <p:nvSpPr>
          <p:cNvPr id="17" name="Texto Confiabilidade"/>
          <p:cNvSpPr txBox="1"/>
          <p:nvPr/>
        </p:nvSpPr>
        <p:spPr>
          <a:xfrm>
            <a:off x="3474720" y="32369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Entregas no prazo porque as paradas são curtas e previsíveis.</a:t>
            </a:r>
            <a:endParaRPr lang="en-US" sz="1400" dirty="0"/>
          </a:p>
        </p:txBody>
      </p:sp>
      <p:sp>
        <p:nvSpPr>
          <p:cNvPr id="18" name="Cartao Custo"/>
          <p:cNvSpPr/>
          <p:nvPr/>
        </p:nvSpPr>
        <p:spPr>
          <a:xfrm>
            <a:off x="457200" y="4215384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9" name="Icone Custo"/>
          <p:cNvSpPr/>
          <p:nvPr/>
        </p:nvSpPr>
        <p:spPr>
          <a:xfrm>
            <a:off x="640080" y="4325112"/>
            <a:ext cx="603504" cy="60350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0" name="Icone Custo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4475988"/>
            <a:ext cx="301752" cy="301752"/>
          </a:xfrm>
          <a:prstGeom prst="rect">
            <a:avLst/>
          </a:prstGeom>
        </p:spPr>
      </p:pic>
      <p:sp>
        <p:nvSpPr>
          <p:cNvPr id="21" name="Titulo Custo"/>
          <p:cNvSpPr txBox="1"/>
          <p:nvPr/>
        </p:nvSpPr>
        <p:spPr>
          <a:xfrm>
            <a:off x="1463040" y="42153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Custo</a:t>
            </a:r>
            <a:endParaRPr lang="en-US" sz="1700" dirty="0"/>
          </a:p>
        </p:txBody>
      </p:sp>
      <p:sp>
        <p:nvSpPr>
          <p:cNvPr id="22" name="Texto Custo"/>
          <p:cNvSpPr txBox="1"/>
          <p:nvPr/>
        </p:nvSpPr>
        <p:spPr>
          <a:xfrm>
            <a:off x="3474720" y="421538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Menos retrabalho, refugo e produto parado em processo.</a:t>
            </a:r>
            <a:endParaRPr lang="en-US" sz="1400" dirty="0"/>
          </a:p>
        </p:txBody>
      </p:sp>
      <p:sp>
        <p:nvSpPr>
          <p:cNvPr id="23" name="Cartao Flexibilidade"/>
          <p:cNvSpPr/>
          <p:nvPr/>
        </p:nvSpPr>
        <p:spPr>
          <a:xfrm>
            <a:off x="457200" y="5193792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4" name="Icone Flexibilidade"/>
          <p:cNvSpPr/>
          <p:nvPr/>
        </p:nvSpPr>
        <p:spPr>
          <a:xfrm>
            <a:off x="640080" y="5303520"/>
            <a:ext cx="603504" cy="60350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cone Flexibilidade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5454396"/>
            <a:ext cx="301752" cy="301752"/>
          </a:xfrm>
          <a:prstGeom prst="rect">
            <a:avLst/>
          </a:prstGeom>
        </p:spPr>
      </p:pic>
      <p:sp>
        <p:nvSpPr>
          <p:cNvPr id="26" name="Titulo Flexibilidade"/>
          <p:cNvSpPr txBox="1"/>
          <p:nvPr/>
        </p:nvSpPr>
        <p:spPr>
          <a:xfrm>
            <a:off x="1463040" y="51937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Flexibilidade</a:t>
            </a:r>
            <a:endParaRPr lang="en-US" sz="1700" dirty="0"/>
          </a:p>
        </p:txBody>
      </p:sp>
      <p:sp>
        <p:nvSpPr>
          <p:cNvPr id="27" name="Texto Flexibilidade"/>
          <p:cNvSpPr txBox="1"/>
          <p:nvPr/>
        </p:nvSpPr>
        <p:spPr>
          <a:xfrm>
            <a:off x="3474720" y="51937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equipe se reorganiza rápido diante de imprevistos.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6. Diagrama: o ciclo do Andon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457200" y="137160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Icone etapa 1"/>
          <p:cNvSpPr/>
          <p:nvPr/>
        </p:nvSpPr>
        <p:spPr>
          <a:xfrm>
            <a:off x="1325880" y="1554480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5" name="Icone etapa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37360"/>
            <a:ext cx="365760" cy="365760"/>
          </a:xfrm>
          <a:prstGeom prst="rect">
            <a:avLst/>
          </a:prstGeom>
        </p:spPr>
      </p:pic>
      <p:sp>
        <p:nvSpPr>
          <p:cNvPr id="6" name="Texto etapa 1"/>
          <p:cNvSpPr txBox="1"/>
          <p:nvPr/>
        </p:nvSpPr>
        <p:spPr>
          <a:xfrm>
            <a:off x="59436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Produção normal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Luz verde</a:t>
            </a:r>
            <a:endParaRPr lang="en-US" sz="1400" dirty="0"/>
          </a:p>
        </p:txBody>
      </p:sp>
      <p:sp>
        <p:nvSpPr>
          <p:cNvPr id="7" name="Etapa 2"/>
          <p:cNvSpPr/>
          <p:nvPr/>
        </p:nvSpPr>
        <p:spPr>
          <a:xfrm>
            <a:off x="3337560" y="137160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8" name="Icone etapa 2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cone etapa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365760" cy="365760"/>
          </a:xfrm>
          <a:prstGeom prst="rect">
            <a:avLst/>
          </a:prstGeom>
        </p:spPr>
      </p:pic>
      <p:sp>
        <p:nvSpPr>
          <p:cNvPr id="10" name="Texto etapa 2"/>
          <p:cNvSpPr txBox="1"/>
          <p:nvPr/>
        </p:nvSpPr>
        <p:spPr>
          <a:xfrm>
            <a:off x="347472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Anormalidade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Operador percebe</a:t>
            </a:r>
            <a:endParaRPr lang="en-US" sz="1400" dirty="0"/>
          </a:p>
        </p:txBody>
      </p:sp>
      <p:sp>
        <p:nvSpPr>
          <p:cNvPr id="11" name="Etapa 3"/>
          <p:cNvSpPr/>
          <p:nvPr/>
        </p:nvSpPr>
        <p:spPr>
          <a:xfrm>
            <a:off x="6217920" y="137160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2" name="Icone etapa 3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3" name="Icone etapa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37360"/>
            <a:ext cx="365760" cy="365760"/>
          </a:xfrm>
          <a:prstGeom prst="rect">
            <a:avLst/>
          </a:prstGeom>
        </p:spPr>
      </p:pic>
      <p:sp>
        <p:nvSpPr>
          <p:cNvPr id="14" name="Texto etapa 3"/>
          <p:cNvSpPr txBox="1"/>
          <p:nvPr/>
        </p:nvSpPr>
        <p:spPr>
          <a:xfrm>
            <a:off x="635508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Aciona o Andon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Luz vermelha + som</a:t>
            </a:r>
            <a:endParaRPr lang="en-US" sz="1400" dirty="0"/>
          </a:p>
        </p:txBody>
      </p:sp>
      <p:sp>
        <p:nvSpPr>
          <p:cNvPr id="15" name="Etapa 4"/>
          <p:cNvSpPr/>
          <p:nvPr/>
        </p:nvSpPr>
        <p:spPr>
          <a:xfrm>
            <a:off x="6217920" y="39319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6" name="Icone etapa 4"/>
          <p:cNvSpPr/>
          <p:nvPr/>
        </p:nvSpPr>
        <p:spPr>
          <a:xfrm>
            <a:off x="7086600" y="4114800"/>
            <a:ext cx="731520" cy="73152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pic>
        <p:nvPicPr>
          <p:cNvPr id="17" name="Icone etapa 4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297680"/>
            <a:ext cx="365760" cy="365760"/>
          </a:xfrm>
          <a:prstGeom prst="rect">
            <a:avLst/>
          </a:prstGeom>
        </p:spPr>
      </p:pic>
      <p:sp>
        <p:nvSpPr>
          <p:cNvPr id="18" name="Texto etapa 4"/>
          <p:cNvSpPr txBox="1"/>
          <p:nvPr/>
        </p:nvSpPr>
        <p:spPr>
          <a:xfrm>
            <a:off x="6355080" y="4937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 Responsável assume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Luz amarela</a:t>
            </a:r>
            <a:endParaRPr lang="en-US" sz="1400" dirty="0"/>
          </a:p>
        </p:txBody>
      </p:sp>
      <p:sp>
        <p:nvSpPr>
          <p:cNvPr id="19" name="Etapa 5"/>
          <p:cNvSpPr/>
          <p:nvPr/>
        </p:nvSpPr>
        <p:spPr>
          <a:xfrm>
            <a:off x="3337560" y="39319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0" name="Icone etapa 5"/>
          <p:cNvSpPr/>
          <p:nvPr/>
        </p:nvSpPr>
        <p:spPr>
          <a:xfrm>
            <a:off x="4206240" y="4114800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1" name="Icone etapa 5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297680"/>
            <a:ext cx="365760" cy="365760"/>
          </a:xfrm>
          <a:prstGeom prst="rect">
            <a:avLst/>
          </a:prstGeom>
        </p:spPr>
      </p:pic>
      <p:sp>
        <p:nvSpPr>
          <p:cNvPr id="22" name="Texto etapa 5"/>
          <p:cNvSpPr txBox="1"/>
          <p:nvPr/>
        </p:nvSpPr>
        <p:spPr>
          <a:xfrm>
            <a:off x="3474720" y="4937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5. Problema resolvido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Luz verde de novo</a:t>
            </a:r>
            <a:endParaRPr lang="en-US" sz="1400" dirty="0"/>
          </a:p>
        </p:txBody>
      </p:sp>
      <p:sp>
        <p:nvSpPr>
          <p:cNvPr id="23" name="Etapa 6"/>
          <p:cNvSpPr/>
          <p:nvPr/>
        </p:nvSpPr>
        <p:spPr>
          <a:xfrm>
            <a:off x="457200" y="39319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4" name="Icone etapa 6"/>
          <p:cNvSpPr/>
          <p:nvPr/>
        </p:nvSpPr>
        <p:spPr>
          <a:xfrm>
            <a:off x="1325880" y="411480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cone etapa 6 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4297680"/>
            <a:ext cx="365760" cy="365760"/>
          </a:xfrm>
          <a:prstGeom prst="rect">
            <a:avLst/>
          </a:prstGeom>
        </p:spPr>
      </p:pic>
      <p:sp>
        <p:nvSpPr>
          <p:cNvPr id="26" name="Texto etapa 6"/>
          <p:cNvSpPr txBox="1"/>
          <p:nvPr/>
        </p:nvSpPr>
        <p:spPr>
          <a:xfrm>
            <a:off x="594360" y="4937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6. Registro e Kaizen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Tempo e recorrência</a:t>
            </a:r>
            <a:endParaRPr lang="en-US" sz="1400" dirty="0"/>
          </a:p>
        </p:txBody>
      </p:sp>
      <p:sp>
        <p:nvSpPr>
          <p:cNvPr id="27" name="Seta 1"/>
          <p:cNvSpPr/>
          <p:nvPr/>
        </p:nvSpPr>
        <p:spPr>
          <a:xfrm>
            <a:off x="2971800" y="2377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eta 2"/>
          <p:cNvSpPr/>
          <p:nvPr/>
        </p:nvSpPr>
        <p:spPr>
          <a:xfrm>
            <a:off x="5852160" y="2377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Seta 3"/>
          <p:cNvSpPr/>
          <p:nvPr/>
        </p:nvSpPr>
        <p:spPr>
          <a:xfrm>
            <a:off x="7452360" y="3429000"/>
            <a:ext cx="0" cy="45720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Seta 4"/>
          <p:cNvSpPr/>
          <p:nvPr/>
        </p:nvSpPr>
        <p:spPr>
          <a:xfrm flipH="1">
            <a:off x="5852160" y="49377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Seta 5"/>
          <p:cNvSpPr/>
          <p:nvPr/>
        </p:nvSpPr>
        <p:spPr>
          <a:xfrm flipH="1">
            <a:off x="2971800" y="49377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eta volta"/>
          <p:cNvSpPr/>
          <p:nvPr/>
        </p:nvSpPr>
        <p:spPr>
          <a:xfrm flipV="1">
            <a:off x="1691640" y="3429000"/>
            <a:ext cx="0" cy="45720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Casos de aplicação</a:t>
            </a:r>
            <a:endParaRPr lang="en-US" sz="3200" dirty="0"/>
          </a:p>
        </p:txBody>
      </p:sp>
      <p:sp>
        <p:nvSpPr>
          <p:cNvPr id="3" name="Caso 1"/>
          <p:cNvSpPr/>
          <p:nvPr/>
        </p:nvSpPr>
        <p:spPr>
          <a:xfrm>
            <a:off x="457200" y="1325880"/>
            <a:ext cx="402336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Icone caso 1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5" name="Icone caso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25930"/>
            <a:ext cx="342900" cy="342900"/>
          </a:xfrm>
          <a:prstGeom prst="rect">
            <a:avLst/>
          </a:prstGeom>
        </p:spPr>
      </p:pic>
      <p:sp>
        <p:nvSpPr>
          <p:cNvPr id="6" name="Titulo caso 1"/>
          <p:cNvSpPr txBox="1"/>
          <p:nvPr/>
        </p:nvSpPr>
        <p:spPr>
          <a:xfrm>
            <a:off x="155448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Indústria automotiva</a:t>
            </a:r>
            <a:endParaRPr lang="en-US" sz="1600" dirty="0"/>
          </a:p>
        </p:txBody>
      </p:sp>
      <p:sp>
        <p:nvSpPr>
          <p:cNvPr id="7" name="Texto caso 1"/>
          <p:cNvSpPr txBox="1"/>
          <p:nvPr/>
        </p:nvSpPr>
        <p:spPr>
          <a:xfrm>
            <a:off x="685800" y="2377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 linha da Toyota, o operador puxa a corda Andon. O líder vem em segundos; se não resolver, a linha para.</a:t>
            </a:r>
            <a:endParaRPr lang="en-US" sz="1300" dirty="0"/>
          </a:p>
        </p:txBody>
      </p:sp>
      <p:sp>
        <p:nvSpPr>
          <p:cNvPr id="8" name="Caso 2"/>
          <p:cNvSpPr/>
          <p:nvPr/>
        </p:nvSpPr>
        <p:spPr>
          <a:xfrm>
            <a:off x="4663440" y="1325880"/>
            <a:ext cx="402336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9" name="Icone caso 2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0" name="Icone caso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25930"/>
            <a:ext cx="342900" cy="342900"/>
          </a:xfrm>
          <a:prstGeom prst="rect">
            <a:avLst/>
          </a:prstGeom>
        </p:spPr>
      </p:pic>
      <p:sp>
        <p:nvSpPr>
          <p:cNvPr id="11" name="Titulo caso 2"/>
          <p:cNvSpPr txBox="1"/>
          <p:nvPr/>
        </p:nvSpPr>
        <p:spPr>
          <a:xfrm>
            <a:off x="576072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Indústria: qualidade</a:t>
            </a:r>
            <a:endParaRPr lang="en-US" sz="1600" dirty="0"/>
          </a:p>
        </p:txBody>
      </p:sp>
      <p:sp>
        <p:nvSpPr>
          <p:cNvPr id="12" name="Texto caso 2"/>
          <p:cNvSpPr txBox="1"/>
          <p:nvPr/>
        </p:nvSpPr>
        <p:spPr>
          <a:xfrm>
            <a:off x="4892040" y="2377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operador vê peça fora do padrão, aciona o Andon e a qualidade verifica antes de o lote seguir.</a:t>
            </a:r>
            <a:endParaRPr lang="en-US" sz="1300" dirty="0"/>
          </a:p>
        </p:txBody>
      </p:sp>
      <p:sp>
        <p:nvSpPr>
          <p:cNvPr id="13" name="Caso 3"/>
          <p:cNvSpPr/>
          <p:nvPr/>
        </p:nvSpPr>
        <p:spPr>
          <a:xfrm>
            <a:off x="457200" y="3703320"/>
            <a:ext cx="402336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4" name="Icone caso 3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5" name="Icone caso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103370"/>
            <a:ext cx="342900" cy="342900"/>
          </a:xfrm>
          <a:prstGeom prst="rect">
            <a:avLst/>
          </a:prstGeom>
        </p:spPr>
      </p:pic>
      <p:sp>
        <p:nvSpPr>
          <p:cNvPr id="16" name="Titulo caso 3"/>
          <p:cNvSpPr txBox="1"/>
          <p:nvPr/>
        </p:nvSpPr>
        <p:spPr>
          <a:xfrm>
            <a:off x="155448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Serviço: supermercado</a:t>
            </a:r>
            <a:endParaRPr lang="en-US" sz="1600" dirty="0"/>
          </a:p>
        </p:txBody>
      </p:sp>
      <p:sp>
        <p:nvSpPr>
          <p:cNvPr id="17" name="Texto caso 3"/>
          <p:cNvSpPr txBox="1"/>
          <p:nvPr/>
        </p:nvSpPr>
        <p:spPr>
          <a:xfrm>
            <a:off x="685800" y="47548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luz acima do caixa chama o fiscal para troco, preço ou cancelamento, sem o caixa sair do posto.</a:t>
            </a:r>
            <a:endParaRPr lang="en-US" sz="1300" dirty="0"/>
          </a:p>
        </p:txBody>
      </p:sp>
      <p:sp>
        <p:nvSpPr>
          <p:cNvPr id="18" name="Caso 4"/>
          <p:cNvSpPr/>
          <p:nvPr/>
        </p:nvSpPr>
        <p:spPr>
          <a:xfrm>
            <a:off x="4663440" y="3703320"/>
            <a:ext cx="402336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9" name="Icone caso 4"/>
          <p:cNvSpPr/>
          <p:nvPr/>
        </p:nvSpPr>
        <p:spPr>
          <a:xfrm>
            <a:off x="4892040" y="393192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0" name="Icone caso 4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4103370"/>
            <a:ext cx="342900" cy="342900"/>
          </a:xfrm>
          <a:prstGeom prst="rect">
            <a:avLst/>
          </a:prstGeom>
        </p:spPr>
      </p:pic>
      <p:sp>
        <p:nvSpPr>
          <p:cNvPr id="21" name="Titulo caso 4"/>
          <p:cNvSpPr txBox="1"/>
          <p:nvPr/>
        </p:nvSpPr>
        <p:spPr>
          <a:xfrm>
            <a:off x="576072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Logística: separação</a:t>
            </a:r>
            <a:endParaRPr lang="en-US" sz="1600" dirty="0"/>
          </a:p>
        </p:txBody>
      </p:sp>
      <p:sp>
        <p:nvSpPr>
          <p:cNvPr id="22" name="Texto caso 4"/>
          <p:cNvSpPr txBox="1"/>
          <p:nvPr/>
        </p:nvSpPr>
        <p:spPr>
          <a:xfrm>
            <a:off x="4892040" y="47548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colaborador aciona o Andon ao notar item trocado ou faltando, e a liderança confere o pedido antes da expedição.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Exemplo: erro na separação do pedido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457200" y="146304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Icone passo 1"/>
          <p:cNvSpPr/>
          <p:nvPr/>
        </p:nvSpPr>
        <p:spPr>
          <a:xfrm>
            <a:off x="978408" y="1691640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cone passo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1897380"/>
            <a:ext cx="411480" cy="411480"/>
          </a:xfrm>
          <a:prstGeom prst="rect">
            <a:avLst/>
          </a:prstGeom>
        </p:spPr>
      </p:pic>
      <p:sp>
        <p:nvSpPr>
          <p:cNvPr id="6" name="Titulo passo 1"/>
          <p:cNvSpPr txBox="1"/>
          <p:nvPr/>
        </p:nvSpPr>
        <p:spPr>
          <a:xfrm>
            <a:off x="54864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Colaborador</a:t>
            </a:r>
            <a:endParaRPr lang="en-US" sz="1600" dirty="0"/>
          </a:p>
        </p:txBody>
      </p:sp>
      <p:sp>
        <p:nvSpPr>
          <p:cNvPr id="7" name="Texto passo 1"/>
          <p:cNvSpPr txBox="1"/>
          <p:nvPr/>
        </p:nvSpPr>
        <p:spPr>
          <a:xfrm>
            <a:off x="594360" y="3063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nota item trocado ou faltando e aciona o Andon</a:t>
            </a:r>
            <a:endParaRPr lang="en-US" sz="1300" dirty="0"/>
          </a:p>
        </p:txBody>
      </p:sp>
      <p:sp>
        <p:nvSpPr>
          <p:cNvPr id="8" name="Passo 2"/>
          <p:cNvSpPr/>
          <p:nvPr/>
        </p:nvSpPr>
        <p:spPr>
          <a:xfrm>
            <a:off x="2560320" y="146304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9" name="Icone passo 2"/>
          <p:cNvSpPr/>
          <p:nvPr/>
        </p:nvSpPr>
        <p:spPr>
          <a:xfrm>
            <a:off x="3081528" y="1691640"/>
            <a:ext cx="822960" cy="82296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pic>
        <p:nvPicPr>
          <p:cNvPr id="10" name="Icone passo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1897380"/>
            <a:ext cx="411480" cy="411480"/>
          </a:xfrm>
          <a:prstGeom prst="rect">
            <a:avLst/>
          </a:prstGeom>
        </p:spPr>
      </p:pic>
      <p:sp>
        <p:nvSpPr>
          <p:cNvPr id="11" name="Titulo passo 2"/>
          <p:cNvSpPr txBox="1"/>
          <p:nvPr/>
        </p:nvSpPr>
        <p:spPr>
          <a:xfrm>
            <a:off x="26517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Liderança</a:t>
            </a:r>
            <a:endParaRPr lang="en-US" sz="1600" dirty="0"/>
          </a:p>
        </p:txBody>
      </p:sp>
      <p:sp>
        <p:nvSpPr>
          <p:cNvPr id="12" name="Texto passo 2"/>
          <p:cNvSpPr txBox="1"/>
          <p:nvPr/>
        </p:nvSpPr>
        <p:spPr>
          <a:xfrm>
            <a:off x="2697480" y="3063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vem ao posto e confere o pedido</a:t>
            </a:r>
            <a:endParaRPr lang="en-US" sz="1300" dirty="0"/>
          </a:p>
        </p:txBody>
      </p:sp>
      <p:sp>
        <p:nvSpPr>
          <p:cNvPr id="13" name="Passo 3"/>
          <p:cNvSpPr/>
          <p:nvPr/>
        </p:nvSpPr>
        <p:spPr>
          <a:xfrm>
            <a:off x="4663440" y="146304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4" name="Icone passo 3"/>
          <p:cNvSpPr/>
          <p:nvPr/>
        </p:nvSpPr>
        <p:spPr>
          <a:xfrm>
            <a:off x="5184648" y="169164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5" name="Icone passo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1897380"/>
            <a:ext cx="411480" cy="411480"/>
          </a:xfrm>
          <a:prstGeom prst="rect">
            <a:avLst/>
          </a:prstGeom>
        </p:spPr>
      </p:pic>
      <p:sp>
        <p:nvSpPr>
          <p:cNvPr id="16" name="Titulo passo 3"/>
          <p:cNvSpPr txBox="1"/>
          <p:nvPr/>
        </p:nvSpPr>
        <p:spPr>
          <a:xfrm>
            <a:off x="475488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Expedição</a:t>
            </a:r>
            <a:endParaRPr lang="en-US" sz="1600" dirty="0"/>
          </a:p>
        </p:txBody>
      </p:sp>
      <p:sp>
        <p:nvSpPr>
          <p:cNvPr id="17" name="Texto passo 3"/>
          <p:cNvSpPr txBox="1"/>
          <p:nvPr/>
        </p:nvSpPr>
        <p:spPr>
          <a:xfrm>
            <a:off x="4800600" y="3063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pedido sai correto para o cliente</a:t>
            </a:r>
            <a:endParaRPr lang="en-US" sz="1300" dirty="0"/>
          </a:p>
        </p:txBody>
      </p:sp>
      <p:sp>
        <p:nvSpPr>
          <p:cNvPr id="18" name="Passo 4"/>
          <p:cNvSpPr/>
          <p:nvPr/>
        </p:nvSpPr>
        <p:spPr>
          <a:xfrm>
            <a:off x="6766560" y="146304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9" name="Icone passo 4"/>
          <p:cNvSpPr/>
          <p:nvPr/>
        </p:nvSpPr>
        <p:spPr>
          <a:xfrm>
            <a:off x="7287768" y="169164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0" name="Icone passo 4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508" y="1897380"/>
            <a:ext cx="411480" cy="411480"/>
          </a:xfrm>
          <a:prstGeom prst="rect">
            <a:avLst/>
          </a:prstGeom>
        </p:spPr>
      </p:pic>
      <p:sp>
        <p:nvSpPr>
          <p:cNvPr id="21" name="Titulo passo 4"/>
          <p:cNvSpPr txBox="1"/>
          <p:nvPr/>
        </p:nvSpPr>
        <p:spPr>
          <a:xfrm>
            <a:off x="685800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Registro</a:t>
            </a:r>
            <a:endParaRPr lang="en-US" sz="1600" dirty="0"/>
          </a:p>
        </p:txBody>
      </p:sp>
      <p:sp>
        <p:nvSpPr>
          <p:cNvPr id="22" name="Texto passo 4"/>
          <p:cNvSpPr txBox="1"/>
          <p:nvPr/>
        </p:nvSpPr>
        <p:spPr>
          <a:xfrm>
            <a:off x="6903720" y="3063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mostra onde os erros se repetem</a:t>
            </a:r>
            <a:endParaRPr lang="en-US" sz="1300" dirty="0"/>
          </a:p>
        </p:txBody>
      </p:sp>
      <p:sp>
        <p:nvSpPr>
          <p:cNvPr id="23" name="Cartao principio"/>
          <p:cNvSpPr/>
          <p:nvPr/>
        </p:nvSpPr>
        <p:spPr>
          <a:xfrm>
            <a:off x="457200" y="461772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4" name="Principio"/>
          <p:cNvSpPr txBox="1"/>
          <p:nvPr/>
        </p:nvSpPr>
        <p:spPr>
          <a:xfrm>
            <a:off x="731520" y="46177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Erro barrado antes de sair: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sem devolução, reenvio ou custo extra.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Prática: linha de triângulos de papel</a:t>
            </a:r>
            <a:endParaRPr lang="en-US" sz="3200" dirty="0"/>
          </a:p>
        </p:txBody>
      </p:sp>
      <p:sp>
        <p:nvSpPr>
          <p:cNvPr id="3" name="Titulo papeis"/>
          <p:cNvSpPr txBox="1"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Quem faz o quê</a:t>
            </a:r>
            <a:endParaRPr lang="en-US" sz="1800" dirty="0"/>
          </a:p>
        </p:txBody>
      </p:sp>
      <p:sp>
        <p:nvSpPr>
          <p:cNvPr id="4" name="Papel 1"/>
          <p:cNvSpPr/>
          <p:nvPr/>
        </p:nvSpPr>
        <p:spPr>
          <a:xfrm>
            <a:off x="457200" y="1783080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5" name="Icone papel 1"/>
          <p:cNvSpPr/>
          <p:nvPr/>
        </p:nvSpPr>
        <p:spPr>
          <a:xfrm>
            <a:off x="594360" y="1901952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" name="Icone papel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061972"/>
            <a:ext cx="320040" cy="320040"/>
          </a:xfrm>
          <a:prstGeom prst="rect">
            <a:avLst/>
          </a:prstGeom>
        </p:spPr>
      </p:pic>
      <p:sp>
        <p:nvSpPr>
          <p:cNvPr id="7" name="Texto papel 1"/>
          <p:cNvSpPr txBox="1"/>
          <p:nvPr/>
        </p:nvSpPr>
        <p:spPr>
          <a:xfrm>
            <a:off x="1371600" y="1783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Integrante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Operador da montagem</a:t>
            </a:r>
            <a:endParaRPr lang="en-US" sz="1400" dirty="0"/>
          </a:p>
        </p:txBody>
      </p:sp>
      <p:sp>
        <p:nvSpPr>
          <p:cNvPr id="8" name="Papel 2"/>
          <p:cNvSpPr/>
          <p:nvPr/>
        </p:nvSpPr>
        <p:spPr>
          <a:xfrm>
            <a:off x="457200" y="2807208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9" name="Icone papel 2"/>
          <p:cNvSpPr/>
          <p:nvPr/>
        </p:nvSpPr>
        <p:spPr>
          <a:xfrm>
            <a:off x="594360" y="2926080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0" name="Icone papel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086100"/>
            <a:ext cx="320040" cy="320040"/>
          </a:xfrm>
          <a:prstGeom prst="rect">
            <a:avLst/>
          </a:prstGeom>
        </p:spPr>
      </p:pic>
      <p:sp>
        <p:nvSpPr>
          <p:cNvPr id="11" name="Texto papel 2"/>
          <p:cNvSpPr txBox="1"/>
          <p:nvPr/>
        </p:nvSpPr>
        <p:spPr>
          <a:xfrm>
            <a:off x="1371600" y="280720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Integrante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Inspeção e apoio à dinâmica</a:t>
            </a:r>
            <a:endParaRPr lang="en-US" sz="1400" dirty="0"/>
          </a:p>
        </p:txBody>
      </p:sp>
      <p:sp>
        <p:nvSpPr>
          <p:cNvPr id="12" name="Papel 3"/>
          <p:cNvSpPr/>
          <p:nvPr/>
        </p:nvSpPr>
        <p:spPr>
          <a:xfrm>
            <a:off x="457200" y="3831336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3" name="Icone papel 3"/>
          <p:cNvSpPr/>
          <p:nvPr/>
        </p:nvSpPr>
        <p:spPr>
          <a:xfrm>
            <a:off x="594360" y="3950208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4" name="Icone papel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110228"/>
            <a:ext cx="320040" cy="320040"/>
          </a:xfrm>
          <a:prstGeom prst="rect">
            <a:avLst/>
          </a:prstGeom>
        </p:spPr>
      </p:pic>
      <p:sp>
        <p:nvSpPr>
          <p:cNvPr id="15" name="Texto papel 3"/>
          <p:cNvSpPr txBox="1"/>
          <p:nvPr/>
        </p:nvSpPr>
        <p:spPr>
          <a:xfrm>
            <a:off x="1371600" y="383133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Integrante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Logística (reposição)</a:t>
            </a:r>
            <a:endParaRPr lang="en-US" sz="1400" dirty="0"/>
          </a:p>
        </p:txBody>
      </p:sp>
      <p:sp>
        <p:nvSpPr>
          <p:cNvPr id="16" name="Papel 4"/>
          <p:cNvSpPr/>
          <p:nvPr/>
        </p:nvSpPr>
        <p:spPr>
          <a:xfrm>
            <a:off x="457200" y="4855464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7" name="Icone papel 4"/>
          <p:cNvSpPr/>
          <p:nvPr/>
        </p:nvSpPr>
        <p:spPr>
          <a:xfrm>
            <a:off x="594360" y="4974336"/>
            <a:ext cx="640080" cy="6400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8" name="Icone papel 4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34356"/>
            <a:ext cx="320040" cy="320040"/>
          </a:xfrm>
          <a:prstGeom prst="rect">
            <a:avLst/>
          </a:prstGeom>
        </p:spPr>
      </p:pic>
      <p:sp>
        <p:nvSpPr>
          <p:cNvPr id="19" name="Texto papel 4"/>
          <p:cNvSpPr txBox="1"/>
          <p:nvPr/>
        </p:nvSpPr>
        <p:spPr>
          <a:xfrm>
            <a:off x="1371600" y="485546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Integrante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Simulador e explicação</a:t>
            </a:r>
            <a:endParaRPr lang="en-US" sz="1400" dirty="0"/>
          </a:p>
        </p:txBody>
      </p:sp>
      <p:sp>
        <p:nvSpPr>
          <p:cNvPr id="20" name="Titulo simulador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simulador</a:t>
            </a:r>
            <a:endParaRPr lang="en-US" sz="1800" dirty="0"/>
          </a:p>
        </p:txBody>
      </p:sp>
      <p:sp>
        <p:nvSpPr>
          <p:cNvPr id="21" name="Camada HTML"/>
          <p:cNvSpPr/>
          <p:nvPr/>
        </p:nvSpPr>
        <p:spPr>
          <a:xfrm>
            <a:off x="4754880" y="1783080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2" name="Icone HTML"/>
          <p:cNvSpPr/>
          <p:nvPr/>
        </p:nvSpPr>
        <p:spPr>
          <a:xfrm>
            <a:off x="4892040" y="1901952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3" name="Icone HTML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2061972"/>
            <a:ext cx="320040" cy="320040"/>
          </a:xfrm>
          <a:prstGeom prst="rect">
            <a:avLst/>
          </a:prstGeom>
        </p:spPr>
      </p:pic>
      <p:sp>
        <p:nvSpPr>
          <p:cNvPr id="24" name="Texto HTML"/>
          <p:cNvSpPr txBox="1"/>
          <p:nvPr/>
        </p:nvSpPr>
        <p:spPr>
          <a:xfrm>
            <a:off x="5669280" y="1783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HTML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Estrutura: campos, botões, painel, torre e histórico</a:t>
            </a:r>
            <a:endParaRPr lang="en-US" sz="1400" dirty="0"/>
          </a:p>
        </p:txBody>
      </p:sp>
      <p:sp>
        <p:nvSpPr>
          <p:cNvPr id="25" name="Camada CSS"/>
          <p:cNvSpPr/>
          <p:nvPr/>
        </p:nvSpPr>
        <p:spPr>
          <a:xfrm>
            <a:off x="4754880" y="2807208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6" name="Icone CSS"/>
          <p:cNvSpPr/>
          <p:nvPr/>
        </p:nvSpPr>
        <p:spPr>
          <a:xfrm>
            <a:off x="4892040" y="2926080"/>
            <a:ext cx="640080" cy="64008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pic>
        <p:nvPicPr>
          <p:cNvPr id="27" name="Icone CSS 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086100"/>
            <a:ext cx="320040" cy="320040"/>
          </a:xfrm>
          <a:prstGeom prst="rect">
            <a:avLst/>
          </a:prstGeom>
        </p:spPr>
      </p:pic>
      <p:sp>
        <p:nvSpPr>
          <p:cNvPr id="28" name="Texto CSS"/>
          <p:cNvSpPr txBox="1"/>
          <p:nvPr/>
        </p:nvSpPr>
        <p:spPr>
          <a:xfrm>
            <a:off x="5669280" y="280720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Aparência: cores, painéis, luzes e ajuste à tela</a:t>
            </a:r>
            <a:endParaRPr lang="en-US" sz="1400" dirty="0"/>
          </a:p>
        </p:txBody>
      </p:sp>
      <p:sp>
        <p:nvSpPr>
          <p:cNvPr id="29" name="Camada JavaScript"/>
          <p:cNvSpPr/>
          <p:nvPr/>
        </p:nvSpPr>
        <p:spPr>
          <a:xfrm>
            <a:off x="4754880" y="3831336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30" name="Icone JavaScript"/>
          <p:cNvSpPr/>
          <p:nvPr/>
        </p:nvSpPr>
        <p:spPr>
          <a:xfrm>
            <a:off x="4892040" y="3950208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1" name="Icone JavaScript i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060" y="4110228"/>
            <a:ext cx="320040" cy="320040"/>
          </a:xfrm>
          <a:prstGeom prst="rect">
            <a:avLst/>
          </a:prstGeom>
        </p:spPr>
      </p:pic>
      <p:sp>
        <p:nvSpPr>
          <p:cNvPr id="32" name="Texto JavaScript"/>
          <p:cNvSpPr txBox="1"/>
          <p:nvPr/>
        </p:nvSpPr>
        <p:spPr>
          <a:xfrm>
            <a:off x="5669280" y="383133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JavaScript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Funcionamento: abre chamados, muda status e luzes, conta e registra</a:t>
            </a:r>
            <a:endParaRPr lang="en-US" sz="1400" dirty="0"/>
          </a:p>
        </p:txBody>
      </p:sp>
      <p:sp>
        <p:nvSpPr>
          <p:cNvPr id="33" name="Aviso didatico"/>
          <p:cNvSpPr/>
          <p:nvPr/>
        </p:nvSpPr>
        <p:spPr>
          <a:xfrm>
            <a:off x="4754880" y="4855464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34" name="Texto aviso"/>
          <p:cNvSpPr txBox="1"/>
          <p:nvPr/>
        </p:nvSpPr>
        <p:spPr>
          <a:xfrm>
            <a:off x="4937760" y="485546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Protótipo didático: registra os chamados. A reposição e a produção acontecem na mesa.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dinâmica em 5 etapas</a:t>
            </a:r>
            <a:endParaRPr lang="en-US" sz="3200" dirty="0"/>
          </a:p>
        </p:txBody>
      </p:sp>
      <p:sp>
        <p:nvSpPr>
          <p:cNvPr id="3" name="Etapa pratica 1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4" name="Luz etapa 1"/>
          <p:cNvSpPr/>
          <p:nvPr/>
        </p:nvSpPr>
        <p:spPr>
          <a:xfrm>
            <a:off x="640080" y="1389888"/>
            <a:ext cx="603504" cy="6035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Numero etapa 1"/>
          <p:cNvSpPr txBox="1"/>
          <p:nvPr/>
        </p:nvSpPr>
        <p:spPr>
          <a:xfrm>
            <a:off x="640080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itulo etapa pratica 1"/>
          <p:cNvSpPr txBox="1"/>
          <p:nvPr/>
        </p:nvSpPr>
        <p:spPr>
          <a:xfrm>
            <a:off x="146304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Produção</a:t>
            </a:r>
            <a:endParaRPr lang="en-US" sz="1700" dirty="0"/>
          </a:p>
        </p:txBody>
      </p:sp>
      <p:sp>
        <p:nvSpPr>
          <p:cNvPr id="7" name="Texto etapa pratica 1"/>
          <p:cNvSpPr txBox="1"/>
          <p:nvPr/>
        </p:nvSpPr>
        <p:spPr>
          <a:xfrm>
            <a:off x="3383280" y="1280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Operador monta, inspeção confere.</a:t>
            </a:r>
            <a:endParaRPr lang="en-US" sz="1400" dirty="0"/>
          </a:p>
        </p:txBody>
      </p:sp>
      <p:sp>
        <p:nvSpPr>
          <p:cNvPr id="8" name="Etapa pratica 2"/>
          <p:cNvSpPr/>
          <p:nvPr/>
        </p:nvSpPr>
        <p:spPr>
          <a:xfrm>
            <a:off x="457200" y="22585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9" name="Luz etapa 2"/>
          <p:cNvSpPr/>
          <p:nvPr/>
        </p:nvSpPr>
        <p:spPr>
          <a:xfrm>
            <a:off x="640080" y="2368296"/>
            <a:ext cx="603504" cy="6035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Numero etapa 2"/>
          <p:cNvSpPr txBox="1"/>
          <p:nvPr/>
        </p:nvSpPr>
        <p:spPr>
          <a:xfrm>
            <a:off x="640080" y="23682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itulo etapa pratica 2"/>
          <p:cNvSpPr txBox="1"/>
          <p:nvPr/>
        </p:nvSpPr>
        <p:spPr>
          <a:xfrm>
            <a:off x="1463040" y="22585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Problema</a:t>
            </a:r>
            <a:endParaRPr lang="en-US" sz="1700" dirty="0"/>
          </a:p>
        </p:txBody>
      </p:sp>
      <p:sp>
        <p:nvSpPr>
          <p:cNvPr id="12" name="Texto etapa pratica 2"/>
          <p:cNvSpPr txBox="1"/>
          <p:nvPr/>
        </p:nvSpPr>
        <p:spPr>
          <a:xfrm>
            <a:off x="3383280" y="22585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papel acaba. O operador para e levanta a mão.</a:t>
            </a:r>
            <a:endParaRPr lang="en-US" sz="1400" dirty="0"/>
          </a:p>
        </p:txBody>
      </p:sp>
      <p:sp>
        <p:nvSpPr>
          <p:cNvPr id="13" name="Etapa pratica 3"/>
          <p:cNvSpPr/>
          <p:nvPr/>
        </p:nvSpPr>
        <p:spPr>
          <a:xfrm>
            <a:off x="457200" y="3236976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4" name="Luz etapa 3"/>
          <p:cNvSpPr/>
          <p:nvPr/>
        </p:nvSpPr>
        <p:spPr>
          <a:xfrm>
            <a:off x="640080" y="3346704"/>
            <a:ext cx="603504" cy="6035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Numero etapa 3"/>
          <p:cNvSpPr txBox="1"/>
          <p:nvPr/>
        </p:nvSpPr>
        <p:spPr>
          <a:xfrm>
            <a:off x="640080" y="33467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itulo etapa pratica 3"/>
          <p:cNvSpPr txBox="1"/>
          <p:nvPr/>
        </p:nvSpPr>
        <p:spPr>
          <a:xfrm>
            <a:off x="1463040" y="323697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Acionamento</a:t>
            </a:r>
            <a:endParaRPr lang="en-US" sz="1700" dirty="0"/>
          </a:p>
        </p:txBody>
      </p:sp>
      <p:sp>
        <p:nvSpPr>
          <p:cNvPr id="17" name="Texto etapa pratica 3"/>
          <p:cNvSpPr txBox="1"/>
          <p:nvPr/>
        </p:nvSpPr>
        <p:spPr>
          <a:xfrm>
            <a:off x="3383280" y="323697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Chamado para a Logística: P-03, falta de material, prioridade alta.</a:t>
            </a:r>
            <a:endParaRPr lang="en-US" sz="1400" dirty="0"/>
          </a:p>
        </p:txBody>
      </p:sp>
      <p:sp>
        <p:nvSpPr>
          <p:cNvPr id="18" name="Etapa pratica 4"/>
          <p:cNvSpPr/>
          <p:nvPr/>
        </p:nvSpPr>
        <p:spPr>
          <a:xfrm>
            <a:off x="457200" y="4215384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9" name="Luz etapa 4"/>
          <p:cNvSpPr/>
          <p:nvPr/>
        </p:nvSpPr>
        <p:spPr>
          <a:xfrm>
            <a:off x="640080" y="4325112"/>
            <a:ext cx="603504" cy="603504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20" name="Numero etapa 4"/>
          <p:cNvSpPr txBox="1"/>
          <p:nvPr/>
        </p:nvSpPr>
        <p:spPr>
          <a:xfrm>
            <a:off x="640080" y="43251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itulo etapa pratica 4"/>
          <p:cNvSpPr txBox="1"/>
          <p:nvPr/>
        </p:nvSpPr>
        <p:spPr>
          <a:xfrm>
            <a:off x="1463040" y="421538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Atendimento</a:t>
            </a:r>
            <a:endParaRPr lang="en-US" sz="1700" dirty="0"/>
          </a:p>
        </p:txBody>
      </p:sp>
      <p:sp>
        <p:nvSpPr>
          <p:cNvPr id="22" name="Texto etapa pratica 4"/>
          <p:cNvSpPr txBox="1"/>
          <p:nvPr/>
        </p:nvSpPr>
        <p:spPr>
          <a:xfrm>
            <a:off x="3383280" y="421538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Logística assume o chamado e repõe o papel.</a:t>
            </a:r>
            <a:endParaRPr lang="en-US" sz="1400" dirty="0"/>
          </a:p>
        </p:txBody>
      </p:sp>
      <p:sp>
        <p:nvSpPr>
          <p:cNvPr id="23" name="Etapa pratica 5"/>
          <p:cNvSpPr/>
          <p:nvPr/>
        </p:nvSpPr>
        <p:spPr>
          <a:xfrm>
            <a:off x="457200" y="5193792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24" name="Luz etapa 5"/>
          <p:cNvSpPr/>
          <p:nvPr/>
        </p:nvSpPr>
        <p:spPr>
          <a:xfrm>
            <a:off x="640080" y="5303520"/>
            <a:ext cx="603504" cy="6035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Numero etapa 5"/>
          <p:cNvSpPr txBox="1"/>
          <p:nvPr/>
        </p:nvSpPr>
        <p:spPr>
          <a:xfrm>
            <a:off x="640080" y="5303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itulo etapa pratica 5"/>
          <p:cNvSpPr txBox="1"/>
          <p:nvPr/>
        </p:nvSpPr>
        <p:spPr>
          <a:xfrm>
            <a:off x="1463040" y="51937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Resolução</a:t>
            </a:r>
            <a:endParaRPr lang="en-US" sz="1700" dirty="0"/>
          </a:p>
        </p:txBody>
      </p:sp>
      <p:sp>
        <p:nvSpPr>
          <p:cNvPr id="27" name="Texto etapa pratica 5"/>
          <p:cNvSpPr txBox="1"/>
          <p:nvPr/>
        </p:nvSpPr>
        <p:spPr>
          <a:xfrm>
            <a:off x="3383280" y="51937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Produção retomada. O histórico mostra o tempo total.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Pergunta para a turma</a:t>
            </a:r>
            <a:endParaRPr lang="en-US" sz="3200" dirty="0"/>
          </a:p>
        </p:txBody>
      </p:sp>
      <p:sp>
        <p:nvSpPr>
          <p:cNvPr id="3" name="Icone pergunta"/>
          <p:cNvSpPr/>
          <p:nvPr/>
        </p:nvSpPr>
        <p:spPr>
          <a:xfrm>
            <a:off x="457200" y="1463040"/>
            <a:ext cx="1188720" cy="1188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" name="Icone pergunta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60220"/>
            <a:ext cx="594360" cy="594360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1920240" y="13716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 que poderia acontecer se o operador não tivesse como sinalizar a falta de material?</a:t>
            </a:r>
            <a:endParaRPr lang="en-US" sz="2400" dirty="0"/>
          </a:p>
        </p:txBody>
      </p:sp>
      <p:sp>
        <p:nvSpPr>
          <p:cNvPr id="6" name="Consequencia 1"/>
          <p:cNvSpPr/>
          <p:nvPr/>
        </p:nvSpPr>
        <p:spPr>
          <a:xfrm>
            <a:off x="457200" y="329184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7" name="Icone consequencia 1"/>
          <p:cNvSpPr/>
          <p:nvPr/>
        </p:nvSpPr>
        <p:spPr>
          <a:xfrm>
            <a:off x="1051560" y="352044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8" name="Icone consequencia 1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3691890"/>
            <a:ext cx="342900" cy="342900"/>
          </a:xfrm>
          <a:prstGeom prst="rect">
            <a:avLst/>
          </a:prstGeom>
        </p:spPr>
      </p:pic>
      <p:sp>
        <p:nvSpPr>
          <p:cNvPr id="9" name="Texto consequencia 1"/>
          <p:cNvSpPr txBox="1"/>
          <p:nvPr/>
        </p:nvSpPr>
        <p:spPr>
          <a:xfrm>
            <a:off x="594360" y="4343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Problema percebido mais tarde</a:t>
            </a:r>
            <a:endParaRPr lang="en-US" sz="1400" dirty="0"/>
          </a:p>
        </p:txBody>
      </p:sp>
      <p:sp>
        <p:nvSpPr>
          <p:cNvPr id="10" name="Consequencia 2"/>
          <p:cNvSpPr/>
          <p:nvPr/>
        </p:nvSpPr>
        <p:spPr>
          <a:xfrm>
            <a:off x="2560320" y="329184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1" name="Icone consequencia 2"/>
          <p:cNvSpPr/>
          <p:nvPr/>
        </p:nvSpPr>
        <p:spPr>
          <a:xfrm>
            <a:off x="3154680" y="352044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2" name="Icone consequencia 2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30" y="3691890"/>
            <a:ext cx="342900" cy="342900"/>
          </a:xfrm>
          <a:prstGeom prst="rect">
            <a:avLst/>
          </a:prstGeom>
        </p:spPr>
      </p:pic>
      <p:sp>
        <p:nvSpPr>
          <p:cNvPr id="13" name="Texto consequencia 2"/>
          <p:cNvSpPr txBox="1"/>
          <p:nvPr/>
        </p:nvSpPr>
        <p:spPr>
          <a:xfrm>
            <a:off x="2697480" y="4343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Tempo de parada maior</a:t>
            </a:r>
            <a:endParaRPr lang="en-US" sz="1400" dirty="0"/>
          </a:p>
        </p:txBody>
      </p:sp>
      <p:sp>
        <p:nvSpPr>
          <p:cNvPr id="14" name="Consequencia 3"/>
          <p:cNvSpPr/>
          <p:nvPr/>
        </p:nvSpPr>
        <p:spPr>
          <a:xfrm>
            <a:off x="4663440" y="329184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5" name="Icone consequencia 3"/>
          <p:cNvSpPr/>
          <p:nvPr/>
        </p:nvSpPr>
        <p:spPr>
          <a:xfrm>
            <a:off x="5257800" y="352044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6" name="Icone consequencia 3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3691890"/>
            <a:ext cx="342900" cy="342900"/>
          </a:xfrm>
          <a:prstGeom prst="rect">
            <a:avLst/>
          </a:prstGeom>
        </p:spPr>
      </p:pic>
      <p:sp>
        <p:nvSpPr>
          <p:cNvPr id="17" name="Texto consequencia 3"/>
          <p:cNvSpPr txBox="1"/>
          <p:nvPr/>
        </p:nvSpPr>
        <p:spPr>
          <a:xfrm>
            <a:off x="4800600" y="4343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Produtos incompletos acumulados</a:t>
            </a:r>
            <a:endParaRPr lang="en-US" sz="1400" dirty="0"/>
          </a:p>
        </p:txBody>
      </p:sp>
      <p:sp>
        <p:nvSpPr>
          <p:cNvPr id="18" name="Consequencia 4"/>
          <p:cNvSpPr/>
          <p:nvPr/>
        </p:nvSpPr>
        <p:spPr>
          <a:xfrm>
            <a:off x="6766560" y="329184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1">
              <a:alpha val="92000"/>
            </a:schemeClr>
          </a:solidFill>
          <a:ln w="9525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7F9DB9">
                <a:alpha val="25000"/>
              </a:srgbClr>
            </a:outerShdw>
          </a:effectLst>
        </p:spPr>
      </p:sp>
      <p:sp>
        <p:nvSpPr>
          <p:cNvPr id="19" name="Icone consequencia 4"/>
          <p:cNvSpPr/>
          <p:nvPr/>
        </p:nvSpPr>
        <p:spPr>
          <a:xfrm>
            <a:off x="7360920" y="352044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20" name="Icone consequencia 4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70" y="3691890"/>
            <a:ext cx="342900" cy="342900"/>
          </a:xfrm>
          <a:prstGeom prst="rect">
            <a:avLst/>
          </a:prstGeom>
        </p:spPr>
      </p:pic>
      <p:sp>
        <p:nvSpPr>
          <p:cNvPr id="21" name="Texto consequencia 4"/>
          <p:cNvSpPr txBox="1"/>
          <p:nvPr/>
        </p:nvSpPr>
        <p:spPr>
          <a:xfrm>
            <a:off x="6903720" y="4343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Atraso na entrega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9144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O Andon sinaliza.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A equipe resolve.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468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Para funcionar, todos precisam saber:</a:t>
            </a:r>
            <a:endParaRPr lang="en-US" sz="1800" dirty="0"/>
          </a:p>
        </p:txBody>
      </p:sp>
      <p:sp>
        <p:nvSpPr>
          <p:cNvPr id="4" name="Luz fechamento 1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Item fechamento 1"/>
          <p:cNvSpPr txBox="1"/>
          <p:nvPr/>
        </p:nvSpPr>
        <p:spPr>
          <a:xfrm>
            <a:off x="109728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Quando acionar</a:t>
            </a:r>
            <a:endParaRPr lang="en-US" sz="1800" dirty="0"/>
          </a:p>
        </p:txBody>
      </p:sp>
      <p:sp>
        <p:nvSpPr>
          <p:cNvPr id="6" name="Luz fechamento 2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7" name="Item fechamento 2"/>
          <p:cNvSpPr txBox="1"/>
          <p:nvPr/>
        </p:nvSpPr>
        <p:spPr>
          <a:xfrm>
            <a:off x="109728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Quem deve responder</a:t>
            </a:r>
            <a:endParaRPr lang="en-US" sz="1800" dirty="0"/>
          </a:p>
        </p:txBody>
      </p:sp>
      <p:sp>
        <p:nvSpPr>
          <p:cNvPr id="8" name="Luz fechamento 3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Item fechamento 3"/>
          <p:cNvSpPr txBox="1"/>
          <p:nvPr/>
        </p:nvSpPr>
        <p:spPr>
          <a:xfrm>
            <a:off x="10972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registrar e resolver</a:t>
            </a:r>
            <a:endParaRPr lang="en-US" sz="1800" dirty="0"/>
          </a:p>
        </p:txBody>
      </p:sp>
      <p:sp>
        <p:nvSpPr>
          <p:cNvPr id="10" name="Agradecimento"/>
          <p:cNvSpPr txBox="1"/>
          <p:nvPr/>
        </p:nvSpPr>
        <p:spPr>
          <a:xfrm>
            <a:off x="4572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Obrigado! Perguntas?</a:t>
            </a:r>
            <a:endParaRPr lang="en-US" sz="2200" dirty="0"/>
          </a:p>
        </p:txBody>
      </p:sp>
      <p:sp>
        <p:nvSpPr>
          <p:cNvPr id="11" name="Credito template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Template visual: PoweredTemplate.com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don PCP II">
  <a:themeElements>
    <a:clrScheme name="Andon PCP II">
      <a:dk1>
        <a:srgbClr val="1A1A1A"/>
      </a:dk1>
      <a:lt1>
        <a:srgbClr val="FFFFFF"/>
      </a:lt1>
      <a:dk2>
        <a:srgbClr val="1F3864"/>
      </a:dk2>
      <a:lt2>
        <a:srgbClr val="EAF2FB"/>
      </a:lt2>
      <a:accent1>
        <a:srgbClr val="2E75B6"/>
      </a:accent1>
      <a:accent2>
        <a:srgbClr val="C0392B"/>
      </a:accent2>
      <a:accent3>
        <a:srgbClr val="E6B800"/>
      </a:accent3>
      <a:accent4>
        <a:srgbClr val="27AE60"/>
      </a:accent4>
      <a:accent5>
        <a:srgbClr val="5B9BD5"/>
      </a:accent5>
      <a:accent6>
        <a:srgbClr val="7F7F7F"/>
      </a:accent6>
      <a:hlink>
        <a:srgbClr val="2E75B6"/>
      </a:hlink>
      <a:folHlink>
        <a:srgbClr val="1F3864"/>
      </a:folHlink>
    </a:clrScheme>
    <a:fontScheme name="Andon PCP I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Andon: sinalizar, chamar e registrar</dc:title>
  <dc:subject>AP2 - Planejamento e Controle da Produção II</dc:subject>
  <dc:creator>Sophia, Jaqueline, Tereza e Kellyson</dc:creator>
  <cp:lastModifiedBy>Sophia, Jaqueline, Tereza e Kellyson</cp:lastModifiedBy>
  <cp:revision>1</cp:revision>
  <dcterms:created xsi:type="dcterms:W3CDTF">2026-10-20T02:06:50Z</dcterms:created>
  <dcterms:modified xsi:type="dcterms:W3CDTF">2026-10-20T02:06:50Z</dcterms:modified>
</cp:coreProperties>
</file>