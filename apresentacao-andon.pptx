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571cf1b0-d0a8-73f8-56fe-83efcc6f8a39}">
          <p14:sldIdLst>
            <p14:sldId id="256"/>
          </p14:sldIdLst>
        </p14:section>
        <p14:section name="Conceito" id="{040640d0-38d0-d8e4-6eeb-1e872aefc24a}">
          <p14:sldIdLst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Aplicação" id="{54a1e0d4-d342-b07b-6408-0bc085616cc7}">
          <p14:sldIdLst>
            <p14:sldId id="263"/>
            <p14:sldId id="264"/>
          </p14:sldIdLst>
        </p14:section>
        <p14:section name="Prática" id="{90e91ec4-8856-d2e2-c433-f848f8283640}">
          <p14:sldIdLst>
            <p14:sldId id="265"/>
            <p14:sldId id="266"/>
            <p14:sldId id="267"/>
          </p14:sldIdLst>
        </p14:section>
        <p14:section name="Fechamento" id="{80878bf0-2a38-f7a7-c0ea-d9443705773c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do grupo. Apresentar o tema e os integrantes.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integrante apresenta um caso (cerca de 1 min cada). Ajustem os cartões aos exemplos combinados no grupo, sem repetir.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Meu exemplo é em serviços. Pense em uma central de atendimento. O atendente recebe um cliente com um problema urgente. Ele aciona um alerta no sistema. O supervisor vê o alerta na hora e vai ajudar. O problema é resolvido sem o cliente esperar. Depois, o chamado fica registrado. A equipe vê quais problemas se repetem. É o mesmo princípio do Andon na fábrica: sinalizar, chamar ajuda e registrar.
Alternativa (indústria): O operador percebe uma peça fora do padrão. Ele aciona o Andon. A qualidade vem verificar antes de o lote continuar. Isso evita que o defeito avance para a próxima etapa.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 vamos ver o Andon funcionando. Vamos simular uma linha de montagem. O produto é um triângulo de papel. Eu criei este simulador. Ele tem três partes.
A primeira é o HTML. Ele cria a estrutura: os campos, os botões, o painel de chamados, a torre de sinalização e o histórico.
A segunda é o CSS. Ele cuida da aparência: as cores, os painéis, as luzes e a adaptação à tela.
A terceira é o JavaScript. Ele faz funcionar: abre os chamados, muda os status, atualiza as luzes, conta as ocorrências e registra o histórico.
Atenção: o simulador é didático. Ele registra os chamados. A reposição do papel e a produção serão feitas por nós, aqui na mesa.
O integrante 1 é o operador da montagem. O integrante 2 faz a inspeção. O integrante 3 é a Logística. Eu cuido do simulador.
(Apontar a torre) A luz está verde. A produção está normal.
Se estiver atrasado: resumir HTML, CSS e JavaScript em 15 segundos.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ETAPA 1 (produção): Nossa linha está funcionando normalmente. O operador monta. A inspeção confere. Até que ocorre uma situação que impede a continuidade da produção. (Não clicar em nada.)
ETAPA 2 (problema): Integrante 1: "Atenção! Estamos sem papel na estação de montagem. Não consigo continuar a produção." Eu: O operador parou a linha. Ele não pode resolver sozinho. Ele precisa chamar quem abastece. Como ele faz isso? Aqui entra o Andon.
ETAPA 3 (acionamento): Mostrar os campos. Ler: Posto de montagem P-03. Falta de material. Prioridade alta. Responsável: Logística. Descrição: Falta de papel na estação de montagem. Produção parada. Clicar em ENVIAR CHAMADO (não em Acionar Andon). Fala: O chamado foi enviado. A luz ficou vermelha. Isso significa ocorrência aberta. O som avisa quem está por perto. O chamado foi direto para a Logística, que é o setor responsável. O painel mostra o chamado aberto e o histórico registrou a ocorrência.
ETAPA 4 (atendimento): Integrante 3 clica em Assumir chamado. Eu: A Logística recebeu o chamado. Ela assumiu o atendimento. A luz ficou amarela. Isso significa equipe em atendimento.
ETAPA 5 (resolução): Integrante 3 clica em Marcar resolvido. Eu: Com o problema resolvido, a produção foi retomada. A luz voltou ao verde. O histórico registrou quanto tempo levou, do chamado até a solução. Assim conseguimos acompanhar a ocorrência e a resposta do setor responsável. (Ler o tempo registrado.)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 uma pergunta para vocês. O que poderia acontecer se o operador não tivesse como sinalizar essa falta de material?
(Esperar, contar até 5 em silêncio, aceitar 2 ou 3 respostas. Se ninguém responder: Pensem na fábrica de vocês. Se ninguém avisa, quem fica sabendo?)
Complemento: Isso mesmo. Sem sinalização, o problema demora mais a ser percebido. O tempo de parada aumenta. Os produtos incompletos se acumulam. Tudo isso gera atraso.
Dica: mostrar este slide só depois das respostas, ou mostrar apenas a pergunta e revelar os cartões depois.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Essa dinâmica mostrou que o Andon não resolve o problema sozinho. A função dele é sinalizar a ocorrência, facilitar a comunicação e direcionar o chamado para o setor certo. Dessa forma, a equipe age mais rápido e reduz o impacto na produção.
Para funcionar, a equipe precisa saber três coisas: quando acionar, quem deve responder e como registrar e resolver. Obrigado. Alguma pergunta?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apa-image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udo-image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91440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2468880"/>
            <a:ext cx="47548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91440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Andon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246888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Gestão visual que sinaliza, chama ajuda e registra, na indústria e nos serviços</a:t>
            </a:r>
            <a:endParaRPr lang="en-US" sz="1800" dirty="0"/>
          </a:p>
        </p:txBody>
      </p:sp>
      <p:sp>
        <p:nvSpPr>
          <p:cNvPr id="4" name="Luz 0"/>
          <p:cNvSpPr/>
          <p:nvPr/>
        </p:nvSpPr>
        <p:spPr>
          <a:xfrm>
            <a:off x="457200" y="502920"/>
            <a:ext cx="274320" cy="27432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5" name="Luz 1"/>
          <p:cNvSpPr/>
          <p:nvPr/>
        </p:nvSpPr>
        <p:spPr>
          <a:xfrm>
            <a:off x="868680" y="502920"/>
            <a:ext cx="274320" cy="274320"/>
          </a:xfrm>
          <a:prstGeom prst="ellipse">
            <a:avLst/>
          </a:prstGeom>
          <a:solidFill>
            <a:srgbClr val="E6B800"/>
          </a:solidFill>
          <a:ln w="12700">
            <a:solidFill>
              <a:srgbClr val="E6B800"/>
            </a:solidFill>
            <a:prstDash val="solid"/>
          </a:ln>
        </p:spPr>
      </p:sp>
      <p:sp>
        <p:nvSpPr>
          <p:cNvPr id="6" name="Luz 2"/>
          <p:cNvSpPr/>
          <p:nvPr/>
        </p:nvSpPr>
        <p:spPr>
          <a:xfrm>
            <a:off x="1280160" y="502920"/>
            <a:ext cx="274320" cy="274320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7" name="Rodape da capa"/>
          <p:cNvSpPr txBox="1"/>
          <p:nvPr/>
        </p:nvSpPr>
        <p:spPr>
          <a:xfrm>
            <a:off x="457200" y="512064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Planejamento e Controle da Produção II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Prof. Albertin  |  AP2  |  20/10/2026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Sophia, Jaqueline, Tereza e Kellyson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1. Origem</a:t>
            </a:r>
            <a:endParaRPr lang="en-US" sz="3200" dirty="0"/>
          </a:p>
        </p:txBody>
      </p:sp>
      <p:sp>
        <p:nvSpPr>
          <p:cNvPr id="3" name="Linha do tempo"/>
          <p:cNvSpPr/>
          <p:nvPr/>
        </p:nvSpPr>
        <p:spPr>
          <a:xfrm>
            <a:off x="960120" y="1600200"/>
            <a:ext cx="0" cy="393192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4" name="Marco 1"/>
          <p:cNvSpPr/>
          <p:nvPr/>
        </p:nvSpPr>
        <p:spPr>
          <a:xfrm>
            <a:off x="685800" y="137160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pic>
        <p:nvPicPr>
          <p:cNvPr id="5" name="Marco 1 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508760"/>
            <a:ext cx="274320" cy="274320"/>
          </a:xfrm>
          <a:prstGeom prst="rect">
            <a:avLst/>
          </a:prstGeom>
        </p:spPr>
      </p:pic>
      <p:sp>
        <p:nvSpPr>
          <p:cNvPr id="6" name="Cartao marco 1"/>
          <p:cNvSpPr/>
          <p:nvPr/>
        </p:nvSpPr>
        <p:spPr>
          <a:xfrm>
            <a:off x="1508760" y="1234440"/>
            <a:ext cx="5120640" cy="1188720"/>
          </a:xfrm>
          <a:prstGeom prst="roundRect">
            <a:avLst>
              <a:gd name="adj" fmla="val 6154"/>
            </a:avLst>
          </a:prstGeom>
          <a:solidFill>
            <a:schemeClr val="bg1">
              <a:alpha val="92000"/>
            </a:schemeClr>
          </a:solidFill>
          <a:ln w="9525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5400000">
              <a:srgbClr val="7F9DB9">
                <a:alpha val="25000"/>
              </a:srgbClr>
            </a:outerShdw>
          </a:effectLst>
        </p:spPr>
      </p:sp>
      <p:sp>
        <p:nvSpPr>
          <p:cNvPr id="7" name="Texto marco 1"/>
          <p:cNvSpPr txBox="1"/>
          <p:nvPr/>
        </p:nvSpPr>
        <p:spPr>
          <a:xfrm>
            <a:off x="1691640" y="1325880"/>
            <a:ext cx="4800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1924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Tear automático de Sakichi Toyoda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Parava sozinho quando o fio quebrava. Nasce a ideia de parar diante do problema.</a:t>
            </a:r>
            <a:endParaRPr lang="en-US" sz="1400" dirty="0"/>
          </a:p>
        </p:txBody>
      </p:sp>
      <p:sp>
        <p:nvSpPr>
          <p:cNvPr id="8" name="Marco 2"/>
          <p:cNvSpPr/>
          <p:nvPr/>
        </p:nvSpPr>
        <p:spPr>
          <a:xfrm>
            <a:off x="685800" y="2834640"/>
            <a:ext cx="548640" cy="548640"/>
          </a:xfrm>
          <a:prstGeom prst="ellipse">
            <a:avLst/>
          </a:prstGeom>
          <a:solidFill>
            <a:srgbClr val="E6B800"/>
          </a:solidFill>
          <a:ln w="12700">
            <a:solidFill>
              <a:srgbClr val="E6B800"/>
            </a:solidFill>
            <a:prstDash val="solid"/>
          </a:ln>
        </p:spPr>
      </p:sp>
      <p:pic>
        <p:nvPicPr>
          <p:cNvPr id="9" name="Marco 2 i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971800"/>
            <a:ext cx="274320" cy="274320"/>
          </a:xfrm>
          <a:prstGeom prst="rect">
            <a:avLst/>
          </a:prstGeom>
        </p:spPr>
      </p:pic>
      <p:sp>
        <p:nvSpPr>
          <p:cNvPr id="10" name="Cartao marco 2"/>
          <p:cNvSpPr/>
          <p:nvPr/>
        </p:nvSpPr>
        <p:spPr>
          <a:xfrm>
            <a:off x="1508760" y="2697480"/>
            <a:ext cx="5120640" cy="1188720"/>
          </a:xfrm>
          <a:prstGeom prst="roundRect">
            <a:avLst>
              <a:gd name="adj" fmla="val 6154"/>
            </a:avLst>
          </a:prstGeom>
          <a:solidFill>
            <a:schemeClr val="bg1">
              <a:alpha val="92000"/>
            </a:schemeClr>
          </a:solidFill>
          <a:ln w="9525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5400000">
              <a:srgbClr val="7F9DB9">
                <a:alpha val="25000"/>
              </a:srgbClr>
            </a:outerShdw>
          </a:effectLst>
        </p:spPr>
      </p:sp>
      <p:sp>
        <p:nvSpPr>
          <p:cNvPr id="11" name="Texto marco 2"/>
          <p:cNvSpPr txBox="1"/>
          <p:nvPr/>
        </p:nvSpPr>
        <p:spPr>
          <a:xfrm>
            <a:off x="1691640" y="2788920"/>
            <a:ext cx="4800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Anos 1950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Sistema Toyota de Produção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Taiichi Ohno leva a ideia para a linha: o operador sinaliza a anormalidade.</a:t>
            </a:r>
            <a:endParaRPr lang="en-US" sz="1400" dirty="0"/>
          </a:p>
        </p:txBody>
      </p:sp>
      <p:sp>
        <p:nvSpPr>
          <p:cNvPr id="12" name="Marco 3"/>
          <p:cNvSpPr/>
          <p:nvPr/>
        </p:nvSpPr>
        <p:spPr>
          <a:xfrm>
            <a:off x="685800" y="4297680"/>
            <a:ext cx="548640" cy="548640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pic>
        <p:nvPicPr>
          <p:cNvPr id="13" name="Marco 3 i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434840"/>
            <a:ext cx="274320" cy="274320"/>
          </a:xfrm>
          <a:prstGeom prst="rect">
            <a:avLst/>
          </a:prstGeom>
        </p:spPr>
      </p:pic>
      <p:sp>
        <p:nvSpPr>
          <p:cNvPr id="14" name="Cartao marco 3"/>
          <p:cNvSpPr/>
          <p:nvPr/>
        </p:nvSpPr>
        <p:spPr>
          <a:xfrm>
            <a:off x="1508760" y="4160520"/>
            <a:ext cx="5120640" cy="1188720"/>
          </a:xfrm>
          <a:prstGeom prst="roundRect">
            <a:avLst>
              <a:gd name="adj" fmla="val 6154"/>
            </a:avLst>
          </a:prstGeom>
          <a:solidFill>
            <a:schemeClr val="bg1">
              <a:alpha val="92000"/>
            </a:schemeClr>
          </a:solidFill>
          <a:ln w="9525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5400000">
              <a:srgbClr val="7F9DB9">
                <a:alpha val="25000"/>
              </a:srgbClr>
            </a:outerShdw>
          </a:effectLst>
        </p:spPr>
      </p:sp>
      <p:sp>
        <p:nvSpPr>
          <p:cNvPr id="15" name="Texto marco 3"/>
          <p:cNvSpPr txBox="1"/>
          <p:nvPr/>
        </p:nvSpPr>
        <p:spPr>
          <a:xfrm>
            <a:off x="1691640" y="4251960"/>
            <a:ext cx="4800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Hoje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Indústria e serviços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Luzes, painéis, botões e sistemas de chamado em fábricas, hospitais e atendimento.</a:t>
            </a:r>
            <a:endParaRPr lang="en-US" sz="1400" dirty="0"/>
          </a:p>
        </p:txBody>
      </p:sp>
      <p:sp>
        <p:nvSpPr>
          <p:cNvPr id="16" name="Nota do nome"/>
          <p:cNvSpPr txBox="1"/>
          <p:nvPr/>
        </p:nvSpPr>
        <p:spPr>
          <a:xfrm>
            <a:off x="457200" y="58978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i="1" dirty="0">
                <a:solidFill>
                  <a:schemeClr val="tx2"/>
                </a:solidFill>
              </a:rPr>
              <a:t>Andon</a:t>
            </a:r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 (行灯) = lanterna de papel em japonês. Na fábrica virou sinal luminoso.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2. Objetivo</a:t>
            </a:r>
            <a:endParaRPr lang="en-US" sz="3200" dirty="0"/>
          </a:p>
        </p:txBody>
      </p:sp>
      <p:sp>
        <p:nvSpPr>
          <p:cNvPr id="3" name="Cartao frase"/>
          <p:cNvSpPr/>
          <p:nvPr/>
        </p:nvSpPr>
        <p:spPr>
          <a:xfrm>
            <a:off x="457200" y="1325880"/>
            <a:ext cx="8229600" cy="1188720"/>
          </a:xfrm>
          <a:prstGeom prst="roundRect">
            <a:avLst>
              <a:gd name="adj" fmla="val 6154"/>
            </a:avLst>
          </a:prstGeom>
          <a:solidFill>
            <a:schemeClr val="bg1">
              <a:alpha val="92000"/>
            </a:schemeClr>
          </a:solidFill>
          <a:ln w="9525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5400000">
              <a:srgbClr val="7F9DB9">
                <a:alpha val="25000"/>
              </a:srgbClr>
            </a:outerShdw>
          </a:effectLst>
        </p:spPr>
      </p:sp>
      <p:sp>
        <p:nvSpPr>
          <p:cNvPr id="4" name="Icone objetivo"/>
          <p:cNvSpPr/>
          <p:nvPr/>
        </p:nvSpPr>
        <p:spPr>
          <a:xfrm>
            <a:off x="685800" y="1508760"/>
            <a:ext cx="822960" cy="822960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pic>
        <p:nvPicPr>
          <p:cNvPr id="5" name="Icone objetivo 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" y="1714500"/>
            <a:ext cx="411480" cy="411480"/>
          </a:xfrm>
          <a:prstGeom prst="rect">
            <a:avLst/>
          </a:prstGeom>
        </p:spPr>
      </p:pic>
      <p:sp>
        <p:nvSpPr>
          <p:cNvPr id="6" name="Frase objetivo"/>
          <p:cNvSpPr txBox="1"/>
          <p:nvPr/>
        </p:nvSpPr>
        <p:spPr>
          <a:xfrm>
            <a:off x="1737360" y="1463040"/>
            <a:ext cx="6675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Tornar a anormalidade visível na hora, para que a pessoa certa aja rápido e o problema não avance.</a:t>
            </a:r>
            <a:endParaRPr lang="en-US" sz="1800" dirty="0"/>
          </a:p>
        </p:txBody>
      </p:sp>
      <p:sp>
        <p:nvSpPr>
          <p:cNvPr id="7" name="Cartao objetivo 1"/>
          <p:cNvSpPr/>
          <p:nvPr/>
        </p:nvSpPr>
        <p:spPr>
          <a:xfrm>
            <a:off x="457200" y="2880360"/>
            <a:ext cx="2560320" cy="2743200"/>
          </a:xfrm>
          <a:prstGeom prst="roundRect">
            <a:avLst>
              <a:gd name="adj" fmla="val 2857"/>
            </a:avLst>
          </a:prstGeom>
          <a:solidFill>
            <a:schemeClr val="bg1">
              <a:alpha val="92000"/>
            </a:schemeClr>
          </a:solidFill>
          <a:ln w="9525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5400000">
              <a:srgbClr val="7F9DB9">
                <a:alpha val="25000"/>
              </a:srgbClr>
            </a:outerShdw>
          </a:effectLst>
        </p:spPr>
      </p:sp>
      <p:sp>
        <p:nvSpPr>
          <p:cNvPr id="8" name="Icone Sinalizar"/>
          <p:cNvSpPr/>
          <p:nvPr/>
        </p:nvSpPr>
        <p:spPr>
          <a:xfrm>
            <a:off x="1325880" y="3108960"/>
            <a:ext cx="822960" cy="82296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pic>
        <p:nvPicPr>
          <p:cNvPr id="9" name="Icone Sinalizar i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1620" y="3314700"/>
            <a:ext cx="411480" cy="411480"/>
          </a:xfrm>
          <a:prstGeom prst="rect">
            <a:avLst/>
          </a:prstGeom>
        </p:spPr>
      </p:pic>
      <p:sp>
        <p:nvSpPr>
          <p:cNvPr id="10" name="Titulo Sinalizar"/>
          <p:cNvSpPr txBox="1"/>
          <p:nvPr/>
        </p:nvSpPr>
        <p:spPr>
          <a:xfrm>
            <a:off x="640080" y="40690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Sinalizar</a:t>
            </a:r>
            <a:endParaRPr lang="en-US" sz="1800" dirty="0"/>
          </a:p>
        </p:txBody>
      </p:sp>
      <p:sp>
        <p:nvSpPr>
          <p:cNvPr id="11" name="Texto Sinalizar"/>
          <p:cNvSpPr txBox="1"/>
          <p:nvPr/>
        </p:nvSpPr>
        <p:spPr>
          <a:xfrm>
            <a:off x="685800" y="452628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Avisar o problema no momento em que ele acontece.</a:t>
            </a:r>
            <a:endParaRPr lang="en-US" sz="1400" dirty="0"/>
          </a:p>
        </p:txBody>
      </p:sp>
      <p:sp>
        <p:nvSpPr>
          <p:cNvPr id="12" name="Cartao objetivo 2"/>
          <p:cNvSpPr/>
          <p:nvPr/>
        </p:nvSpPr>
        <p:spPr>
          <a:xfrm>
            <a:off x="3291840" y="2880360"/>
            <a:ext cx="2560320" cy="2743200"/>
          </a:xfrm>
          <a:prstGeom prst="roundRect">
            <a:avLst>
              <a:gd name="adj" fmla="val 2857"/>
            </a:avLst>
          </a:prstGeom>
          <a:solidFill>
            <a:schemeClr val="bg1">
              <a:alpha val="92000"/>
            </a:schemeClr>
          </a:solidFill>
          <a:ln w="9525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5400000">
              <a:srgbClr val="7F9DB9">
                <a:alpha val="25000"/>
              </a:srgbClr>
            </a:outerShdw>
          </a:effectLst>
        </p:spPr>
      </p:sp>
      <p:sp>
        <p:nvSpPr>
          <p:cNvPr id="13" name="Icone Chamar ajuda"/>
          <p:cNvSpPr/>
          <p:nvPr/>
        </p:nvSpPr>
        <p:spPr>
          <a:xfrm>
            <a:off x="4160520" y="3108960"/>
            <a:ext cx="822960" cy="822960"/>
          </a:xfrm>
          <a:prstGeom prst="ellipse">
            <a:avLst/>
          </a:prstGeom>
          <a:solidFill>
            <a:srgbClr val="E6B800"/>
          </a:solidFill>
          <a:ln w="12700">
            <a:solidFill>
              <a:srgbClr val="E6B800"/>
            </a:solidFill>
            <a:prstDash val="solid"/>
          </a:ln>
        </p:spPr>
      </p:sp>
      <p:pic>
        <p:nvPicPr>
          <p:cNvPr id="14" name="Icone Chamar ajuda i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6260" y="3314700"/>
            <a:ext cx="411480" cy="411480"/>
          </a:xfrm>
          <a:prstGeom prst="rect">
            <a:avLst/>
          </a:prstGeom>
        </p:spPr>
      </p:pic>
      <p:sp>
        <p:nvSpPr>
          <p:cNvPr id="15" name="Titulo Chamar ajuda"/>
          <p:cNvSpPr txBox="1"/>
          <p:nvPr/>
        </p:nvSpPr>
        <p:spPr>
          <a:xfrm>
            <a:off x="3474720" y="40690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Chamar ajuda</a:t>
            </a:r>
            <a:endParaRPr lang="en-US" sz="1800" dirty="0"/>
          </a:p>
        </p:txBody>
      </p:sp>
      <p:sp>
        <p:nvSpPr>
          <p:cNvPr id="16" name="Texto Chamar ajuda"/>
          <p:cNvSpPr txBox="1"/>
          <p:nvPr/>
        </p:nvSpPr>
        <p:spPr>
          <a:xfrm>
            <a:off x="3520440" y="452628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Direcionar o chamado ao setor responsável.</a:t>
            </a:r>
            <a:endParaRPr lang="en-US" sz="1400" dirty="0"/>
          </a:p>
        </p:txBody>
      </p:sp>
      <p:sp>
        <p:nvSpPr>
          <p:cNvPr id="17" name="Cartao objetivo 3"/>
          <p:cNvSpPr/>
          <p:nvPr/>
        </p:nvSpPr>
        <p:spPr>
          <a:xfrm>
            <a:off x="6126480" y="2880360"/>
            <a:ext cx="2560320" cy="2743200"/>
          </a:xfrm>
          <a:prstGeom prst="roundRect">
            <a:avLst>
              <a:gd name="adj" fmla="val 2857"/>
            </a:avLst>
          </a:prstGeom>
          <a:solidFill>
            <a:schemeClr val="bg1">
              <a:alpha val="92000"/>
            </a:schemeClr>
          </a:solidFill>
          <a:ln w="9525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5400000">
              <a:srgbClr val="7F9DB9">
                <a:alpha val="25000"/>
              </a:srgbClr>
            </a:outerShdw>
          </a:effectLst>
        </p:spPr>
      </p:sp>
      <p:sp>
        <p:nvSpPr>
          <p:cNvPr id="18" name="Icone Registrar"/>
          <p:cNvSpPr/>
          <p:nvPr/>
        </p:nvSpPr>
        <p:spPr>
          <a:xfrm>
            <a:off x="6995160" y="3108960"/>
            <a:ext cx="822960" cy="822960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pic>
        <p:nvPicPr>
          <p:cNvPr id="19" name="Icone Registrar i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0900" y="3314700"/>
            <a:ext cx="411480" cy="411480"/>
          </a:xfrm>
          <a:prstGeom prst="rect">
            <a:avLst/>
          </a:prstGeom>
        </p:spPr>
      </p:pic>
      <p:sp>
        <p:nvSpPr>
          <p:cNvPr id="20" name="Titulo Registrar"/>
          <p:cNvSpPr txBox="1"/>
          <p:nvPr/>
        </p:nvSpPr>
        <p:spPr>
          <a:xfrm>
            <a:off x="6309360" y="40690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Registrar</a:t>
            </a:r>
            <a:endParaRPr lang="en-US" sz="1800" dirty="0"/>
          </a:p>
        </p:txBody>
      </p:sp>
      <p:sp>
        <p:nvSpPr>
          <p:cNvPr id="21" name="Texto Registrar"/>
          <p:cNvSpPr txBox="1"/>
          <p:nvPr/>
        </p:nvSpPr>
        <p:spPr>
          <a:xfrm>
            <a:off x="6355080" y="452628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Medir tempo de resposta e achar o que se repete.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3. Descrição</a:t>
            </a:r>
            <a:endParaRPr lang="en-US" sz="3200" dirty="0"/>
          </a:p>
        </p:txBody>
      </p:sp>
      <p:sp>
        <p:nvSpPr>
          <p:cNvPr id="3" name="Texto descricao"/>
          <p:cNvSpPr txBox="1"/>
          <p:nvPr/>
        </p:nvSpPr>
        <p:spPr>
          <a:xfrm>
            <a:off x="457200" y="137160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Ferramenta de gestão visual.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Um sinal (luz, som, painel ou sistema) mostra o estado do posto de trabalho. Quem vê o problema aciona. Quem é responsável responde.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Formas de acionar: 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corda ou botão na linha, botão no caixa, alerta no sistema de atendimento.</a:t>
            </a:r>
            <a:endParaRPr lang="en-US" sz="1500" dirty="0"/>
          </a:p>
        </p:txBody>
      </p:sp>
      <p:sp>
        <p:nvSpPr>
          <p:cNvPr id="4" name="Cartao torre"/>
          <p:cNvSpPr/>
          <p:nvPr/>
        </p:nvSpPr>
        <p:spPr>
          <a:xfrm>
            <a:off x="5120640" y="1325880"/>
            <a:ext cx="3566160" cy="4754880"/>
          </a:xfrm>
          <a:prstGeom prst="roundRect">
            <a:avLst>
              <a:gd name="adj" fmla="val 2051"/>
            </a:avLst>
          </a:prstGeom>
          <a:solidFill>
            <a:schemeClr val="bg1">
              <a:alpha val="92000"/>
            </a:schemeClr>
          </a:solidFill>
          <a:ln w="9525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5400000">
              <a:srgbClr val="7F9DB9">
                <a:alpha val="25000"/>
              </a:srgbClr>
            </a:outerShdw>
          </a:effectLst>
        </p:spPr>
      </p:sp>
      <p:sp>
        <p:nvSpPr>
          <p:cNvPr id="5" name="Titulo torre"/>
          <p:cNvSpPr txBox="1"/>
          <p:nvPr/>
        </p:nvSpPr>
        <p:spPr>
          <a:xfrm>
            <a:off x="5303520" y="14630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Torre de sinalização</a:t>
            </a:r>
            <a:endParaRPr lang="en-US" sz="1600" dirty="0"/>
          </a:p>
        </p:txBody>
      </p:sp>
      <p:sp>
        <p:nvSpPr>
          <p:cNvPr id="6" name="Corpo torre"/>
          <p:cNvSpPr/>
          <p:nvPr/>
        </p:nvSpPr>
        <p:spPr>
          <a:xfrm>
            <a:off x="5532120" y="1965960"/>
            <a:ext cx="822960" cy="3566160"/>
          </a:xfrm>
          <a:prstGeom prst="roundRect">
            <a:avLst>
              <a:gd name="adj" fmla="val 11111"/>
            </a:avLst>
          </a:prstGeom>
          <a:solidFill>
            <a:srgbClr val="D9D9D9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7" name="Luz Vermelho"/>
          <p:cNvSpPr/>
          <p:nvPr/>
        </p:nvSpPr>
        <p:spPr>
          <a:xfrm>
            <a:off x="5623560" y="2148840"/>
            <a:ext cx="640080" cy="64008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8" name="Legenda Vermelho"/>
          <p:cNvSpPr txBox="1"/>
          <p:nvPr/>
        </p:nvSpPr>
        <p:spPr>
          <a:xfrm>
            <a:off x="6537960" y="2167128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Vermelho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Ocorrência aberta</a:t>
            </a:r>
            <a:endParaRPr lang="en-US" sz="1400" dirty="0"/>
          </a:p>
        </p:txBody>
      </p:sp>
      <p:sp>
        <p:nvSpPr>
          <p:cNvPr id="9" name="Luz Amarelo"/>
          <p:cNvSpPr/>
          <p:nvPr/>
        </p:nvSpPr>
        <p:spPr>
          <a:xfrm>
            <a:off x="5623560" y="3291840"/>
            <a:ext cx="640080" cy="640080"/>
          </a:xfrm>
          <a:prstGeom prst="ellipse">
            <a:avLst/>
          </a:prstGeom>
          <a:solidFill>
            <a:srgbClr val="E6B800"/>
          </a:solidFill>
          <a:ln w="12700">
            <a:solidFill>
              <a:srgbClr val="E6B800"/>
            </a:solidFill>
            <a:prstDash val="solid"/>
          </a:ln>
        </p:spPr>
      </p:sp>
      <p:sp>
        <p:nvSpPr>
          <p:cNvPr id="10" name="Legenda Amarelo"/>
          <p:cNvSpPr txBox="1"/>
          <p:nvPr/>
        </p:nvSpPr>
        <p:spPr>
          <a:xfrm>
            <a:off x="6537960" y="3310128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Amarelo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Em atendimento</a:t>
            </a:r>
            <a:endParaRPr lang="en-US" sz="1400" dirty="0"/>
          </a:p>
        </p:txBody>
      </p:sp>
      <p:sp>
        <p:nvSpPr>
          <p:cNvPr id="11" name="Luz Verde"/>
          <p:cNvSpPr/>
          <p:nvPr/>
        </p:nvSpPr>
        <p:spPr>
          <a:xfrm>
            <a:off x="5623560" y="4434840"/>
            <a:ext cx="640080" cy="640080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2" name="Legenda Verde"/>
          <p:cNvSpPr txBox="1"/>
          <p:nvPr/>
        </p:nvSpPr>
        <p:spPr>
          <a:xfrm>
            <a:off x="6537960" y="4453128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Verde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Operação normal</a:t>
            </a:r>
            <a:endParaRPr lang="en-US" sz="1400" dirty="0"/>
          </a:p>
        </p:txBody>
      </p:sp>
      <p:sp>
        <p:nvSpPr>
          <p:cNvPr id="13" name="Icone regra"/>
          <p:cNvSpPr/>
          <p:nvPr/>
        </p:nvSpPr>
        <p:spPr>
          <a:xfrm>
            <a:off x="457200" y="4800600"/>
            <a:ext cx="548640" cy="548640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pic>
        <p:nvPicPr>
          <p:cNvPr id="14" name="Icone regra 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4937760"/>
            <a:ext cx="274320" cy="274320"/>
          </a:xfrm>
          <a:prstGeom prst="rect">
            <a:avLst/>
          </a:prstGeom>
        </p:spPr>
      </p:pic>
      <p:sp>
        <p:nvSpPr>
          <p:cNvPr id="15" name="Regra"/>
          <p:cNvSpPr txBox="1"/>
          <p:nvPr/>
        </p:nvSpPr>
        <p:spPr>
          <a:xfrm>
            <a:off x="1188720" y="47091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O Andon não resolve o problema. Ele torna o problema visível e chama quem resolve.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4. Relação com o STP</a:t>
            </a:r>
            <a:endParaRPr lang="en-US" sz="3200" dirty="0"/>
          </a:p>
        </p:txBody>
      </p:sp>
      <p:sp>
        <p:nvSpPr>
          <p:cNvPr id="3" name="Cartao Jidoka"/>
          <p:cNvSpPr/>
          <p:nvPr/>
        </p:nvSpPr>
        <p:spPr>
          <a:xfrm>
            <a:off x="457200" y="1325880"/>
            <a:ext cx="4023360" cy="1371600"/>
          </a:xfrm>
          <a:prstGeom prst="roundRect">
            <a:avLst>
              <a:gd name="adj" fmla="val 5333"/>
            </a:avLst>
          </a:prstGeom>
          <a:solidFill>
            <a:schemeClr val="bg1">
              <a:alpha val="92000"/>
            </a:schemeClr>
          </a:solidFill>
          <a:ln w="9525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5400000">
              <a:srgbClr val="7F9DB9">
                <a:alpha val="25000"/>
              </a:srgbClr>
            </a:outerShdw>
          </a:effectLst>
        </p:spPr>
      </p:sp>
      <p:sp>
        <p:nvSpPr>
          <p:cNvPr id="4" name="Icone Jidoka"/>
          <p:cNvSpPr/>
          <p:nvPr/>
        </p:nvSpPr>
        <p:spPr>
          <a:xfrm>
            <a:off x="640080" y="1645920"/>
            <a:ext cx="685800" cy="68580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pic>
        <p:nvPicPr>
          <p:cNvPr id="5" name="Icone Jidoka 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530" y="1817370"/>
            <a:ext cx="342900" cy="342900"/>
          </a:xfrm>
          <a:prstGeom prst="rect">
            <a:avLst/>
          </a:prstGeom>
        </p:spPr>
      </p:pic>
      <p:sp>
        <p:nvSpPr>
          <p:cNvPr id="6" name="Texto Jidoka"/>
          <p:cNvSpPr txBox="1"/>
          <p:nvPr/>
        </p:nvSpPr>
        <p:spPr>
          <a:xfrm>
            <a:off x="1508760" y="1463040"/>
            <a:ext cx="2834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Jidoka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Parar ou sinalizar diante da anormalidade. O Andon é o meio visível do Jidoka.</a:t>
            </a:r>
            <a:endParaRPr lang="en-US" sz="1400" dirty="0"/>
          </a:p>
        </p:txBody>
      </p:sp>
      <p:sp>
        <p:nvSpPr>
          <p:cNvPr id="7" name="Cartao Kaizen"/>
          <p:cNvSpPr/>
          <p:nvPr/>
        </p:nvSpPr>
        <p:spPr>
          <a:xfrm>
            <a:off x="4663440" y="1325880"/>
            <a:ext cx="4023360" cy="1371600"/>
          </a:xfrm>
          <a:prstGeom prst="roundRect">
            <a:avLst>
              <a:gd name="adj" fmla="val 5333"/>
            </a:avLst>
          </a:prstGeom>
          <a:solidFill>
            <a:schemeClr val="bg1">
              <a:alpha val="92000"/>
            </a:schemeClr>
          </a:solidFill>
          <a:ln w="9525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5400000">
              <a:srgbClr val="7F9DB9">
                <a:alpha val="25000"/>
              </a:srgbClr>
            </a:outerShdw>
          </a:effectLst>
        </p:spPr>
      </p:sp>
      <p:sp>
        <p:nvSpPr>
          <p:cNvPr id="8" name="Icone Kaizen"/>
          <p:cNvSpPr/>
          <p:nvPr/>
        </p:nvSpPr>
        <p:spPr>
          <a:xfrm>
            <a:off x="4846320" y="1645920"/>
            <a:ext cx="685800" cy="685800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pic>
        <p:nvPicPr>
          <p:cNvPr id="9" name="Icone Kaizen i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7770" y="1817370"/>
            <a:ext cx="342900" cy="342900"/>
          </a:xfrm>
          <a:prstGeom prst="rect">
            <a:avLst/>
          </a:prstGeom>
        </p:spPr>
      </p:pic>
      <p:sp>
        <p:nvSpPr>
          <p:cNvPr id="10" name="Texto Kaizen"/>
          <p:cNvSpPr txBox="1"/>
          <p:nvPr/>
        </p:nvSpPr>
        <p:spPr>
          <a:xfrm>
            <a:off x="5715000" y="1463040"/>
            <a:ext cx="2834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Kaizen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Os chamados registrados mostram problemas recorrentes e orientam a melhoria.</a:t>
            </a:r>
            <a:endParaRPr lang="en-US" sz="1400" dirty="0"/>
          </a:p>
        </p:txBody>
      </p:sp>
      <p:sp>
        <p:nvSpPr>
          <p:cNvPr id="11" name="Cartao Just in Time"/>
          <p:cNvSpPr/>
          <p:nvPr/>
        </p:nvSpPr>
        <p:spPr>
          <a:xfrm>
            <a:off x="457200" y="2926080"/>
            <a:ext cx="4023360" cy="1371600"/>
          </a:xfrm>
          <a:prstGeom prst="roundRect">
            <a:avLst>
              <a:gd name="adj" fmla="val 5333"/>
            </a:avLst>
          </a:prstGeom>
          <a:solidFill>
            <a:schemeClr val="bg1">
              <a:alpha val="92000"/>
            </a:schemeClr>
          </a:solidFill>
          <a:ln w="9525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5400000">
              <a:srgbClr val="7F9DB9">
                <a:alpha val="25000"/>
              </a:srgbClr>
            </a:outerShdw>
          </a:effectLst>
        </p:spPr>
      </p:sp>
      <p:sp>
        <p:nvSpPr>
          <p:cNvPr id="12" name="Icone Just in Time"/>
          <p:cNvSpPr/>
          <p:nvPr/>
        </p:nvSpPr>
        <p:spPr>
          <a:xfrm>
            <a:off x="640080" y="3246120"/>
            <a:ext cx="685800" cy="685800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pic>
        <p:nvPicPr>
          <p:cNvPr id="13" name="Icone Just in Time i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530" y="3417570"/>
            <a:ext cx="342900" cy="342900"/>
          </a:xfrm>
          <a:prstGeom prst="rect">
            <a:avLst/>
          </a:prstGeom>
        </p:spPr>
      </p:pic>
      <p:sp>
        <p:nvSpPr>
          <p:cNvPr id="14" name="Texto Just in Time"/>
          <p:cNvSpPr txBox="1"/>
          <p:nvPr/>
        </p:nvSpPr>
        <p:spPr>
          <a:xfrm>
            <a:off x="1508760" y="3063240"/>
            <a:ext cx="2834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Just in Time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Falta de material vira sinal imediato, sem estoque escondendo o problema.</a:t>
            </a:r>
            <a:endParaRPr lang="en-US" sz="1400" dirty="0"/>
          </a:p>
        </p:txBody>
      </p:sp>
      <p:sp>
        <p:nvSpPr>
          <p:cNvPr id="15" name="Cartao Gestão visual"/>
          <p:cNvSpPr/>
          <p:nvPr/>
        </p:nvSpPr>
        <p:spPr>
          <a:xfrm>
            <a:off x="4663440" y="2926080"/>
            <a:ext cx="4023360" cy="1371600"/>
          </a:xfrm>
          <a:prstGeom prst="roundRect">
            <a:avLst>
              <a:gd name="adj" fmla="val 5333"/>
            </a:avLst>
          </a:prstGeom>
          <a:solidFill>
            <a:schemeClr val="bg1">
              <a:alpha val="92000"/>
            </a:schemeClr>
          </a:solidFill>
          <a:ln w="9525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5400000">
              <a:srgbClr val="7F9DB9">
                <a:alpha val="25000"/>
              </a:srgbClr>
            </a:outerShdw>
          </a:effectLst>
        </p:spPr>
      </p:sp>
      <p:sp>
        <p:nvSpPr>
          <p:cNvPr id="16" name="Icone Gestão visual"/>
          <p:cNvSpPr/>
          <p:nvPr/>
        </p:nvSpPr>
        <p:spPr>
          <a:xfrm>
            <a:off x="4846320" y="3246120"/>
            <a:ext cx="685800" cy="685800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pic>
        <p:nvPicPr>
          <p:cNvPr id="17" name="Icone Gestão visual i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7770" y="3417570"/>
            <a:ext cx="342900" cy="342900"/>
          </a:xfrm>
          <a:prstGeom prst="rect">
            <a:avLst/>
          </a:prstGeom>
        </p:spPr>
      </p:pic>
      <p:sp>
        <p:nvSpPr>
          <p:cNvPr id="18" name="Texto Gestão visual"/>
          <p:cNvSpPr txBox="1"/>
          <p:nvPr/>
        </p:nvSpPr>
        <p:spPr>
          <a:xfrm>
            <a:off x="5715000" y="3063240"/>
            <a:ext cx="2834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Gestão visual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Qualquer pessoa entende o estado da linha só de olhar.</a:t>
            </a:r>
            <a:endParaRPr lang="en-US" sz="1400" dirty="0"/>
          </a:p>
        </p:txBody>
      </p:sp>
      <p:sp>
        <p:nvSpPr>
          <p:cNvPr id="19" name="Cartao Poka-Yoke"/>
          <p:cNvSpPr/>
          <p:nvPr/>
        </p:nvSpPr>
        <p:spPr>
          <a:xfrm>
            <a:off x="457200" y="4526280"/>
            <a:ext cx="4023360" cy="1371600"/>
          </a:xfrm>
          <a:prstGeom prst="roundRect">
            <a:avLst>
              <a:gd name="adj" fmla="val 5333"/>
            </a:avLst>
          </a:prstGeom>
          <a:solidFill>
            <a:schemeClr val="bg1">
              <a:alpha val="92000"/>
            </a:schemeClr>
          </a:solidFill>
          <a:ln w="9525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5400000">
              <a:srgbClr val="7F9DB9">
                <a:alpha val="25000"/>
              </a:srgbClr>
            </a:outerShdw>
          </a:effectLst>
        </p:spPr>
      </p:sp>
      <p:sp>
        <p:nvSpPr>
          <p:cNvPr id="20" name="Icone Poka-Yoke"/>
          <p:cNvSpPr/>
          <p:nvPr/>
        </p:nvSpPr>
        <p:spPr>
          <a:xfrm>
            <a:off x="640080" y="4846320"/>
            <a:ext cx="685800" cy="685800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pic>
        <p:nvPicPr>
          <p:cNvPr id="21" name="Icone Poka-Yoke i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1530" y="5017770"/>
            <a:ext cx="342900" cy="342900"/>
          </a:xfrm>
          <a:prstGeom prst="rect">
            <a:avLst/>
          </a:prstGeom>
        </p:spPr>
      </p:pic>
      <p:sp>
        <p:nvSpPr>
          <p:cNvPr id="22" name="Texto Poka-Yoke"/>
          <p:cNvSpPr txBox="1"/>
          <p:nvPr/>
        </p:nvSpPr>
        <p:spPr>
          <a:xfrm>
            <a:off x="1508760" y="4663440"/>
            <a:ext cx="2834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Poka-Yoke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Complementar: o Poka-Yoke previne o erro; o Andon sinaliza o que escapou.</a:t>
            </a:r>
            <a:endParaRPr lang="en-US" sz="1400" dirty="0"/>
          </a:p>
        </p:txBody>
      </p:sp>
      <p:sp>
        <p:nvSpPr>
          <p:cNvPr id="23" name="Cartao Respeito às pessoas"/>
          <p:cNvSpPr/>
          <p:nvPr/>
        </p:nvSpPr>
        <p:spPr>
          <a:xfrm>
            <a:off x="4663440" y="4526280"/>
            <a:ext cx="4023360" cy="1371600"/>
          </a:xfrm>
          <a:prstGeom prst="roundRect">
            <a:avLst>
              <a:gd name="adj" fmla="val 5333"/>
            </a:avLst>
          </a:prstGeom>
          <a:solidFill>
            <a:schemeClr val="bg1">
              <a:alpha val="92000"/>
            </a:schemeClr>
          </a:solidFill>
          <a:ln w="9525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5400000">
              <a:srgbClr val="7F9DB9">
                <a:alpha val="25000"/>
              </a:srgbClr>
            </a:outerShdw>
          </a:effectLst>
        </p:spPr>
      </p:sp>
      <p:sp>
        <p:nvSpPr>
          <p:cNvPr id="24" name="Icone Respeito às pessoas"/>
          <p:cNvSpPr/>
          <p:nvPr/>
        </p:nvSpPr>
        <p:spPr>
          <a:xfrm>
            <a:off x="4846320" y="4846320"/>
            <a:ext cx="685800" cy="685800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pic>
        <p:nvPicPr>
          <p:cNvPr id="25" name="Icone Respeito às pessoas icon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17770" y="5017770"/>
            <a:ext cx="342900" cy="342900"/>
          </a:xfrm>
          <a:prstGeom prst="rect">
            <a:avLst/>
          </a:prstGeom>
        </p:spPr>
      </p:pic>
      <p:sp>
        <p:nvSpPr>
          <p:cNvPr id="26" name="Texto Respeito às pessoas"/>
          <p:cNvSpPr txBox="1"/>
          <p:nvPr/>
        </p:nvSpPr>
        <p:spPr>
          <a:xfrm>
            <a:off x="5715000" y="4663440"/>
            <a:ext cx="2834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Respeito às pessoas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 operador tem autonomia para acionar e recebe apoio da equipe.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5. Critérios de desempenho</a:t>
            </a:r>
            <a:endParaRPr lang="en-US" sz="3200" dirty="0"/>
          </a:p>
        </p:txBody>
      </p:sp>
      <p:sp>
        <p:nvSpPr>
          <p:cNvPr id="3" name="Cartao Qualidade"/>
          <p:cNvSpPr/>
          <p:nvPr/>
        </p:nvSpPr>
        <p:spPr>
          <a:xfrm>
            <a:off x="457200" y="1280160"/>
            <a:ext cx="8229600" cy="822960"/>
          </a:xfrm>
          <a:prstGeom prst="roundRect">
            <a:avLst>
              <a:gd name="adj" fmla="val 8889"/>
            </a:avLst>
          </a:prstGeom>
          <a:solidFill>
            <a:schemeClr val="bg1">
              <a:alpha val="92000"/>
            </a:schemeClr>
          </a:solidFill>
          <a:ln w="9525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5400000">
              <a:srgbClr val="7F9DB9">
                <a:alpha val="25000"/>
              </a:srgbClr>
            </a:outerShdw>
          </a:effectLst>
        </p:spPr>
      </p:sp>
      <p:sp>
        <p:nvSpPr>
          <p:cNvPr id="4" name="Icone Qualidade"/>
          <p:cNvSpPr/>
          <p:nvPr/>
        </p:nvSpPr>
        <p:spPr>
          <a:xfrm>
            <a:off x="640080" y="1389888"/>
            <a:ext cx="603504" cy="603504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pic>
        <p:nvPicPr>
          <p:cNvPr id="5" name="Icone Qualidade 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" y="1540764"/>
            <a:ext cx="301752" cy="301752"/>
          </a:xfrm>
          <a:prstGeom prst="rect">
            <a:avLst/>
          </a:prstGeom>
        </p:spPr>
      </p:pic>
      <p:sp>
        <p:nvSpPr>
          <p:cNvPr id="6" name="Titulo Qualidade"/>
          <p:cNvSpPr txBox="1"/>
          <p:nvPr/>
        </p:nvSpPr>
        <p:spPr>
          <a:xfrm>
            <a:off x="1463040" y="128016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Qualidade</a:t>
            </a:r>
            <a:endParaRPr lang="en-US" sz="1700" dirty="0"/>
          </a:p>
        </p:txBody>
      </p:sp>
      <p:sp>
        <p:nvSpPr>
          <p:cNvPr id="7" name="Texto Qualidade"/>
          <p:cNvSpPr txBox="1"/>
          <p:nvPr/>
        </p:nvSpPr>
        <p:spPr>
          <a:xfrm>
            <a:off x="3474720" y="128016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Defeito é contido antes de seguir para a próxima etapa.</a:t>
            </a:r>
            <a:endParaRPr lang="en-US" sz="1400" dirty="0"/>
          </a:p>
        </p:txBody>
      </p:sp>
      <p:sp>
        <p:nvSpPr>
          <p:cNvPr id="8" name="Cartao Velocidade"/>
          <p:cNvSpPr/>
          <p:nvPr/>
        </p:nvSpPr>
        <p:spPr>
          <a:xfrm>
            <a:off x="457200" y="2258568"/>
            <a:ext cx="8229600" cy="822960"/>
          </a:xfrm>
          <a:prstGeom prst="roundRect">
            <a:avLst>
              <a:gd name="adj" fmla="val 8889"/>
            </a:avLst>
          </a:prstGeom>
          <a:solidFill>
            <a:schemeClr val="bg1">
              <a:alpha val="92000"/>
            </a:schemeClr>
          </a:solidFill>
          <a:ln w="9525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5400000">
              <a:srgbClr val="7F9DB9">
                <a:alpha val="25000"/>
              </a:srgbClr>
            </a:outerShdw>
          </a:effectLst>
        </p:spPr>
      </p:sp>
      <p:sp>
        <p:nvSpPr>
          <p:cNvPr id="9" name="Icone Velocidade"/>
          <p:cNvSpPr/>
          <p:nvPr/>
        </p:nvSpPr>
        <p:spPr>
          <a:xfrm>
            <a:off x="640080" y="2368296"/>
            <a:ext cx="603504" cy="603504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pic>
        <p:nvPicPr>
          <p:cNvPr id="10" name="Icone Velocidade i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2519172"/>
            <a:ext cx="301752" cy="301752"/>
          </a:xfrm>
          <a:prstGeom prst="rect">
            <a:avLst/>
          </a:prstGeom>
        </p:spPr>
      </p:pic>
      <p:sp>
        <p:nvSpPr>
          <p:cNvPr id="11" name="Titulo Velocidade"/>
          <p:cNvSpPr txBox="1"/>
          <p:nvPr/>
        </p:nvSpPr>
        <p:spPr>
          <a:xfrm>
            <a:off x="1463040" y="2258568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Velocidade</a:t>
            </a:r>
            <a:endParaRPr lang="en-US" sz="1700" dirty="0"/>
          </a:p>
        </p:txBody>
      </p:sp>
      <p:sp>
        <p:nvSpPr>
          <p:cNvPr id="12" name="Texto Velocidade"/>
          <p:cNvSpPr txBox="1"/>
          <p:nvPr/>
        </p:nvSpPr>
        <p:spPr>
          <a:xfrm>
            <a:off x="3474720" y="2258568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ajuda chega mais rápido. Menos tempo de parada.</a:t>
            </a:r>
            <a:endParaRPr lang="en-US" sz="1400" dirty="0"/>
          </a:p>
        </p:txBody>
      </p:sp>
      <p:sp>
        <p:nvSpPr>
          <p:cNvPr id="13" name="Cartao Confiabilidade"/>
          <p:cNvSpPr/>
          <p:nvPr/>
        </p:nvSpPr>
        <p:spPr>
          <a:xfrm>
            <a:off x="457200" y="3236976"/>
            <a:ext cx="8229600" cy="822960"/>
          </a:xfrm>
          <a:prstGeom prst="roundRect">
            <a:avLst>
              <a:gd name="adj" fmla="val 8889"/>
            </a:avLst>
          </a:prstGeom>
          <a:solidFill>
            <a:schemeClr val="bg1">
              <a:alpha val="92000"/>
            </a:schemeClr>
          </a:solidFill>
          <a:ln w="9525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5400000">
              <a:srgbClr val="7F9DB9">
                <a:alpha val="25000"/>
              </a:srgbClr>
            </a:outerShdw>
          </a:effectLst>
        </p:spPr>
      </p:sp>
      <p:sp>
        <p:nvSpPr>
          <p:cNvPr id="14" name="Icone Confiabilidade"/>
          <p:cNvSpPr/>
          <p:nvPr/>
        </p:nvSpPr>
        <p:spPr>
          <a:xfrm>
            <a:off x="640080" y="3346704"/>
            <a:ext cx="603504" cy="603504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pic>
        <p:nvPicPr>
          <p:cNvPr id="15" name="Icone Confiabilidade i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956" y="3497580"/>
            <a:ext cx="301752" cy="301752"/>
          </a:xfrm>
          <a:prstGeom prst="rect">
            <a:avLst/>
          </a:prstGeom>
        </p:spPr>
      </p:pic>
      <p:sp>
        <p:nvSpPr>
          <p:cNvPr id="16" name="Titulo Confiabilidade"/>
          <p:cNvSpPr txBox="1"/>
          <p:nvPr/>
        </p:nvSpPr>
        <p:spPr>
          <a:xfrm>
            <a:off x="1463040" y="3236976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Confiabilidade</a:t>
            </a:r>
            <a:endParaRPr lang="en-US" sz="1700" dirty="0"/>
          </a:p>
        </p:txBody>
      </p:sp>
      <p:sp>
        <p:nvSpPr>
          <p:cNvPr id="17" name="Texto Confiabilidade"/>
          <p:cNvSpPr txBox="1"/>
          <p:nvPr/>
        </p:nvSpPr>
        <p:spPr>
          <a:xfrm>
            <a:off x="3474720" y="3236976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Entregas no prazo porque as paradas são curtas e previsíveis.</a:t>
            </a:r>
            <a:endParaRPr lang="en-US" sz="1400" dirty="0"/>
          </a:p>
        </p:txBody>
      </p:sp>
      <p:sp>
        <p:nvSpPr>
          <p:cNvPr id="18" name="Cartao Custo"/>
          <p:cNvSpPr/>
          <p:nvPr/>
        </p:nvSpPr>
        <p:spPr>
          <a:xfrm>
            <a:off x="457200" y="4215384"/>
            <a:ext cx="8229600" cy="822960"/>
          </a:xfrm>
          <a:prstGeom prst="roundRect">
            <a:avLst>
              <a:gd name="adj" fmla="val 8889"/>
            </a:avLst>
          </a:prstGeom>
          <a:solidFill>
            <a:schemeClr val="bg1">
              <a:alpha val="92000"/>
            </a:schemeClr>
          </a:solidFill>
          <a:ln w="9525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5400000">
              <a:srgbClr val="7F9DB9">
                <a:alpha val="25000"/>
              </a:srgbClr>
            </a:outerShdw>
          </a:effectLst>
        </p:spPr>
      </p:sp>
      <p:sp>
        <p:nvSpPr>
          <p:cNvPr id="19" name="Icone Custo"/>
          <p:cNvSpPr/>
          <p:nvPr/>
        </p:nvSpPr>
        <p:spPr>
          <a:xfrm>
            <a:off x="640080" y="4325112"/>
            <a:ext cx="603504" cy="603504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pic>
        <p:nvPicPr>
          <p:cNvPr id="20" name="Icone Custo i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956" y="4475988"/>
            <a:ext cx="301752" cy="301752"/>
          </a:xfrm>
          <a:prstGeom prst="rect">
            <a:avLst/>
          </a:prstGeom>
        </p:spPr>
      </p:pic>
      <p:sp>
        <p:nvSpPr>
          <p:cNvPr id="21" name="Titulo Custo"/>
          <p:cNvSpPr txBox="1"/>
          <p:nvPr/>
        </p:nvSpPr>
        <p:spPr>
          <a:xfrm>
            <a:off x="1463040" y="4215384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Custo</a:t>
            </a:r>
            <a:endParaRPr lang="en-US" sz="1700" dirty="0"/>
          </a:p>
        </p:txBody>
      </p:sp>
      <p:sp>
        <p:nvSpPr>
          <p:cNvPr id="22" name="Texto Custo"/>
          <p:cNvSpPr txBox="1"/>
          <p:nvPr/>
        </p:nvSpPr>
        <p:spPr>
          <a:xfrm>
            <a:off x="3474720" y="4215384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Menos retrabalho, refugo e produto parado em processo.</a:t>
            </a:r>
            <a:endParaRPr lang="en-US" sz="1400" dirty="0"/>
          </a:p>
        </p:txBody>
      </p:sp>
      <p:sp>
        <p:nvSpPr>
          <p:cNvPr id="23" name="Cartao Flexibilidade"/>
          <p:cNvSpPr/>
          <p:nvPr/>
        </p:nvSpPr>
        <p:spPr>
          <a:xfrm>
            <a:off x="457200" y="5193792"/>
            <a:ext cx="8229600" cy="822960"/>
          </a:xfrm>
          <a:prstGeom prst="roundRect">
            <a:avLst>
              <a:gd name="adj" fmla="val 8889"/>
            </a:avLst>
          </a:prstGeom>
          <a:solidFill>
            <a:schemeClr val="bg1">
              <a:alpha val="92000"/>
            </a:schemeClr>
          </a:solidFill>
          <a:ln w="9525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5400000">
              <a:srgbClr val="7F9DB9">
                <a:alpha val="25000"/>
              </a:srgbClr>
            </a:outerShdw>
          </a:effectLst>
        </p:spPr>
      </p:sp>
      <p:sp>
        <p:nvSpPr>
          <p:cNvPr id="24" name="Icone Flexibilidade"/>
          <p:cNvSpPr/>
          <p:nvPr/>
        </p:nvSpPr>
        <p:spPr>
          <a:xfrm>
            <a:off x="640080" y="5303520"/>
            <a:ext cx="603504" cy="603504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pic>
        <p:nvPicPr>
          <p:cNvPr id="25" name="Icone Flexibilidade i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956" y="5454396"/>
            <a:ext cx="301752" cy="301752"/>
          </a:xfrm>
          <a:prstGeom prst="rect">
            <a:avLst/>
          </a:prstGeom>
        </p:spPr>
      </p:pic>
      <p:sp>
        <p:nvSpPr>
          <p:cNvPr id="26" name="Titulo Flexibilidade"/>
          <p:cNvSpPr txBox="1"/>
          <p:nvPr/>
        </p:nvSpPr>
        <p:spPr>
          <a:xfrm>
            <a:off x="1463040" y="5193792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Flexibilidade</a:t>
            </a:r>
            <a:endParaRPr lang="en-US" sz="1700" dirty="0"/>
          </a:p>
        </p:txBody>
      </p:sp>
      <p:sp>
        <p:nvSpPr>
          <p:cNvPr id="27" name="Texto Flexibilidade"/>
          <p:cNvSpPr txBox="1"/>
          <p:nvPr/>
        </p:nvSpPr>
        <p:spPr>
          <a:xfrm>
            <a:off x="3474720" y="5193792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equipe se reorganiza rápido diante de imprevistos.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6. Diagrama: o ciclo do Andon</a:t>
            </a:r>
            <a:endParaRPr lang="en-US" sz="3200" dirty="0"/>
          </a:p>
        </p:txBody>
      </p:sp>
      <p:sp>
        <p:nvSpPr>
          <p:cNvPr id="3" name="Etapa 1"/>
          <p:cNvSpPr/>
          <p:nvPr/>
        </p:nvSpPr>
        <p:spPr>
          <a:xfrm>
            <a:off x="457200" y="1371600"/>
            <a:ext cx="2468880" cy="2011680"/>
          </a:xfrm>
          <a:prstGeom prst="roundRect">
            <a:avLst>
              <a:gd name="adj" fmla="val 3636"/>
            </a:avLst>
          </a:prstGeom>
          <a:solidFill>
            <a:schemeClr val="bg1">
              <a:alpha val="92000"/>
            </a:schemeClr>
          </a:solidFill>
          <a:ln w="9525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5400000">
              <a:srgbClr val="7F9DB9">
                <a:alpha val="25000"/>
              </a:srgbClr>
            </a:outerShdw>
          </a:effectLst>
        </p:spPr>
      </p:sp>
      <p:sp>
        <p:nvSpPr>
          <p:cNvPr id="4" name="Icone etapa 1"/>
          <p:cNvSpPr/>
          <p:nvPr/>
        </p:nvSpPr>
        <p:spPr>
          <a:xfrm>
            <a:off x="1325880" y="1554480"/>
            <a:ext cx="731520" cy="731520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pic>
        <p:nvPicPr>
          <p:cNvPr id="5" name="Icone etapa 1 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8760" y="1737360"/>
            <a:ext cx="365760" cy="365760"/>
          </a:xfrm>
          <a:prstGeom prst="rect">
            <a:avLst/>
          </a:prstGeom>
        </p:spPr>
      </p:pic>
      <p:sp>
        <p:nvSpPr>
          <p:cNvPr id="6" name="Texto etapa 1"/>
          <p:cNvSpPr txBox="1"/>
          <p:nvPr/>
        </p:nvSpPr>
        <p:spPr>
          <a:xfrm>
            <a:off x="594360" y="23774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1. Produção normal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95959"/>
                </a:solidFill>
              </a:rPr>
              <a:t>Luz verde</a:t>
            </a:r>
            <a:endParaRPr lang="en-US" sz="1400" dirty="0"/>
          </a:p>
        </p:txBody>
      </p:sp>
      <p:sp>
        <p:nvSpPr>
          <p:cNvPr id="7" name="Etapa 2"/>
          <p:cNvSpPr/>
          <p:nvPr/>
        </p:nvSpPr>
        <p:spPr>
          <a:xfrm>
            <a:off x="3337560" y="1371600"/>
            <a:ext cx="2468880" cy="2011680"/>
          </a:xfrm>
          <a:prstGeom prst="roundRect">
            <a:avLst>
              <a:gd name="adj" fmla="val 3636"/>
            </a:avLst>
          </a:prstGeom>
          <a:solidFill>
            <a:schemeClr val="bg1">
              <a:alpha val="92000"/>
            </a:schemeClr>
          </a:solidFill>
          <a:ln w="9525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5400000">
              <a:srgbClr val="7F9DB9">
                <a:alpha val="25000"/>
              </a:srgbClr>
            </a:outerShdw>
          </a:effectLst>
        </p:spPr>
      </p:sp>
      <p:sp>
        <p:nvSpPr>
          <p:cNvPr id="8" name="Icone etapa 2"/>
          <p:cNvSpPr/>
          <p:nvPr/>
        </p:nvSpPr>
        <p:spPr>
          <a:xfrm>
            <a:off x="4206240" y="1554480"/>
            <a:ext cx="731520" cy="73152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pic>
        <p:nvPicPr>
          <p:cNvPr id="9" name="Icone etapa 2 i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737360"/>
            <a:ext cx="365760" cy="365760"/>
          </a:xfrm>
          <a:prstGeom prst="rect">
            <a:avLst/>
          </a:prstGeom>
        </p:spPr>
      </p:pic>
      <p:sp>
        <p:nvSpPr>
          <p:cNvPr id="10" name="Texto etapa 2"/>
          <p:cNvSpPr txBox="1"/>
          <p:nvPr/>
        </p:nvSpPr>
        <p:spPr>
          <a:xfrm>
            <a:off x="3474720" y="23774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2. Anormalidade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95959"/>
                </a:solidFill>
              </a:rPr>
              <a:t>Operador percebe</a:t>
            </a:r>
            <a:endParaRPr lang="en-US" sz="1400" dirty="0"/>
          </a:p>
        </p:txBody>
      </p:sp>
      <p:sp>
        <p:nvSpPr>
          <p:cNvPr id="11" name="Etapa 3"/>
          <p:cNvSpPr/>
          <p:nvPr/>
        </p:nvSpPr>
        <p:spPr>
          <a:xfrm>
            <a:off x="6217920" y="1371600"/>
            <a:ext cx="2468880" cy="2011680"/>
          </a:xfrm>
          <a:prstGeom prst="roundRect">
            <a:avLst>
              <a:gd name="adj" fmla="val 3636"/>
            </a:avLst>
          </a:prstGeom>
          <a:solidFill>
            <a:schemeClr val="bg1">
              <a:alpha val="92000"/>
            </a:schemeClr>
          </a:solidFill>
          <a:ln w="9525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5400000">
              <a:srgbClr val="7F9DB9">
                <a:alpha val="25000"/>
              </a:srgbClr>
            </a:outerShdw>
          </a:effectLst>
        </p:spPr>
      </p:sp>
      <p:sp>
        <p:nvSpPr>
          <p:cNvPr id="12" name="Icone etapa 3"/>
          <p:cNvSpPr/>
          <p:nvPr/>
        </p:nvSpPr>
        <p:spPr>
          <a:xfrm>
            <a:off x="7086600" y="1554480"/>
            <a:ext cx="731520" cy="73152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pic>
        <p:nvPicPr>
          <p:cNvPr id="13" name="Icone etapa 3 i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1737360"/>
            <a:ext cx="365760" cy="365760"/>
          </a:xfrm>
          <a:prstGeom prst="rect">
            <a:avLst/>
          </a:prstGeom>
        </p:spPr>
      </p:pic>
      <p:sp>
        <p:nvSpPr>
          <p:cNvPr id="14" name="Texto etapa 3"/>
          <p:cNvSpPr txBox="1"/>
          <p:nvPr/>
        </p:nvSpPr>
        <p:spPr>
          <a:xfrm>
            <a:off x="6355080" y="23774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3. Aciona o Andon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95959"/>
                </a:solidFill>
              </a:rPr>
              <a:t>Luz vermelha + som</a:t>
            </a:r>
            <a:endParaRPr lang="en-US" sz="1400" dirty="0"/>
          </a:p>
        </p:txBody>
      </p:sp>
      <p:sp>
        <p:nvSpPr>
          <p:cNvPr id="15" name="Etapa 4"/>
          <p:cNvSpPr/>
          <p:nvPr/>
        </p:nvSpPr>
        <p:spPr>
          <a:xfrm>
            <a:off x="6217920" y="3931920"/>
            <a:ext cx="2468880" cy="2011680"/>
          </a:xfrm>
          <a:prstGeom prst="roundRect">
            <a:avLst>
              <a:gd name="adj" fmla="val 3636"/>
            </a:avLst>
          </a:prstGeom>
          <a:solidFill>
            <a:schemeClr val="bg1">
              <a:alpha val="92000"/>
            </a:schemeClr>
          </a:solidFill>
          <a:ln w="9525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5400000">
              <a:srgbClr val="7F9DB9">
                <a:alpha val="25000"/>
              </a:srgbClr>
            </a:outerShdw>
          </a:effectLst>
        </p:spPr>
      </p:sp>
      <p:sp>
        <p:nvSpPr>
          <p:cNvPr id="16" name="Icone etapa 4"/>
          <p:cNvSpPr/>
          <p:nvPr/>
        </p:nvSpPr>
        <p:spPr>
          <a:xfrm>
            <a:off x="7086600" y="4114800"/>
            <a:ext cx="731520" cy="731520"/>
          </a:xfrm>
          <a:prstGeom prst="ellipse">
            <a:avLst/>
          </a:prstGeom>
          <a:solidFill>
            <a:srgbClr val="E6B800"/>
          </a:solidFill>
          <a:ln w="12700">
            <a:solidFill>
              <a:srgbClr val="E6B800"/>
            </a:solidFill>
            <a:prstDash val="solid"/>
          </a:ln>
        </p:spPr>
      </p:sp>
      <p:pic>
        <p:nvPicPr>
          <p:cNvPr id="17" name="Icone etapa 4 i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9480" y="4297680"/>
            <a:ext cx="365760" cy="365760"/>
          </a:xfrm>
          <a:prstGeom prst="rect">
            <a:avLst/>
          </a:prstGeom>
        </p:spPr>
      </p:pic>
      <p:sp>
        <p:nvSpPr>
          <p:cNvPr id="18" name="Texto etapa 4"/>
          <p:cNvSpPr txBox="1"/>
          <p:nvPr/>
        </p:nvSpPr>
        <p:spPr>
          <a:xfrm>
            <a:off x="6355080" y="49377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4. Responsável assume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95959"/>
                </a:solidFill>
              </a:rPr>
              <a:t>Luz amarela</a:t>
            </a:r>
            <a:endParaRPr lang="en-US" sz="1400" dirty="0"/>
          </a:p>
        </p:txBody>
      </p:sp>
      <p:sp>
        <p:nvSpPr>
          <p:cNvPr id="19" name="Etapa 5"/>
          <p:cNvSpPr/>
          <p:nvPr/>
        </p:nvSpPr>
        <p:spPr>
          <a:xfrm>
            <a:off x="3337560" y="3931920"/>
            <a:ext cx="2468880" cy="2011680"/>
          </a:xfrm>
          <a:prstGeom prst="roundRect">
            <a:avLst>
              <a:gd name="adj" fmla="val 3636"/>
            </a:avLst>
          </a:prstGeom>
          <a:solidFill>
            <a:schemeClr val="bg1">
              <a:alpha val="92000"/>
            </a:schemeClr>
          </a:solidFill>
          <a:ln w="9525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5400000">
              <a:srgbClr val="7F9DB9">
                <a:alpha val="25000"/>
              </a:srgbClr>
            </a:outerShdw>
          </a:effectLst>
        </p:spPr>
      </p:sp>
      <p:sp>
        <p:nvSpPr>
          <p:cNvPr id="20" name="Icone etapa 5"/>
          <p:cNvSpPr/>
          <p:nvPr/>
        </p:nvSpPr>
        <p:spPr>
          <a:xfrm>
            <a:off x="4206240" y="4114800"/>
            <a:ext cx="731520" cy="731520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pic>
        <p:nvPicPr>
          <p:cNvPr id="21" name="Icone etapa 5 i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0" y="4297680"/>
            <a:ext cx="365760" cy="365760"/>
          </a:xfrm>
          <a:prstGeom prst="rect">
            <a:avLst/>
          </a:prstGeom>
        </p:spPr>
      </p:pic>
      <p:sp>
        <p:nvSpPr>
          <p:cNvPr id="22" name="Texto etapa 5"/>
          <p:cNvSpPr txBox="1"/>
          <p:nvPr/>
        </p:nvSpPr>
        <p:spPr>
          <a:xfrm>
            <a:off x="3474720" y="49377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5. Problema resolvido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95959"/>
                </a:solidFill>
              </a:rPr>
              <a:t>Luz verde de novo</a:t>
            </a:r>
            <a:endParaRPr lang="en-US" sz="1400" dirty="0"/>
          </a:p>
        </p:txBody>
      </p:sp>
      <p:sp>
        <p:nvSpPr>
          <p:cNvPr id="23" name="Etapa 6"/>
          <p:cNvSpPr/>
          <p:nvPr/>
        </p:nvSpPr>
        <p:spPr>
          <a:xfrm>
            <a:off x="457200" y="3931920"/>
            <a:ext cx="2468880" cy="2011680"/>
          </a:xfrm>
          <a:prstGeom prst="roundRect">
            <a:avLst>
              <a:gd name="adj" fmla="val 3636"/>
            </a:avLst>
          </a:prstGeom>
          <a:solidFill>
            <a:schemeClr val="bg1">
              <a:alpha val="92000"/>
            </a:schemeClr>
          </a:solidFill>
          <a:ln w="9525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5400000">
              <a:srgbClr val="7F9DB9">
                <a:alpha val="25000"/>
              </a:srgbClr>
            </a:outerShdw>
          </a:effectLst>
        </p:spPr>
      </p:sp>
      <p:sp>
        <p:nvSpPr>
          <p:cNvPr id="24" name="Icone etapa 6"/>
          <p:cNvSpPr/>
          <p:nvPr/>
        </p:nvSpPr>
        <p:spPr>
          <a:xfrm>
            <a:off x="1325880" y="4114800"/>
            <a:ext cx="731520" cy="731520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pic>
        <p:nvPicPr>
          <p:cNvPr id="25" name="Icone etapa 6 icon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08760" y="4297680"/>
            <a:ext cx="365760" cy="365760"/>
          </a:xfrm>
          <a:prstGeom prst="rect">
            <a:avLst/>
          </a:prstGeom>
        </p:spPr>
      </p:pic>
      <p:sp>
        <p:nvSpPr>
          <p:cNvPr id="26" name="Texto etapa 6"/>
          <p:cNvSpPr txBox="1"/>
          <p:nvPr/>
        </p:nvSpPr>
        <p:spPr>
          <a:xfrm>
            <a:off x="594360" y="49377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6. Registro e Kaizen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95959"/>
                </a:solidFill>
              </a:rPr>
              <a:t>Tempo e recorrência</a:t>
            </a:r>
            <a:endParaRPr lang="en-US" sz="1400" dirty="0"/>
          </a:p>
        </p:txBody>
      </p:sp>
      <p:sp>
        <p:nvSpPr>
          <p:cNvPr id="27" name="Seta 1"/>
          <p:cNvSpPr/>
          <p:nvPr/>
        </p:nvSpPr>
        <p:spPr>
          <a:xfrm>
            <a:off x="2971800" y="2377440"/>
            <a:ext cx="320040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8" name="Seta 2"/>
          <p:cNvSpPr/>
          <p:nvPr/>
        </p:nvSpPr>
        <p:spPr>
          <a:xfrm>
            <a:off x="5852160" y="2377440"/>
            <a:ext cx="320040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9" name="Seta 3"/>
          <p:cNvSpPr/>
          <p:nvPr/>
        </p:nvSpPr>
        <p:spPr>
          <a:xfrm>
            <a:off x="7452360" y="3429000"/>
            <a:ext cx="0" cy="45720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30" name="Seta 4"/>
          <p:cNvSpPr/>
          <p:nvPr/>
        </p:nvSpPr>
        <p:spPr>
          <a:xfrm flipH="1">
            <a:off x="5852160" y="4937760"/>
            <a:ext cx="320040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31" name="Seta 5"/>
          <p:cNvSpPr/>
          <p:nvPr/>
        </p:nvSpPr>
        <p:spPr>
          <a:xfrm flipH="1">
            <a:off x="2971800" y="4937760"/>
            <a:ext cx="320040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32" name="Seta volta"/>
          <p:cNvSpPr/>
          <p:nvPr/>
        </p:nvSpPr>
        <p:spPr>
          <a:xfrm flipV="1">
            <a:off x="1691640" y="3429000"/>
            <a:ext cx="0" cy="45720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Casos de aplicação</a:t>
            </a:r>
            <a:endParaRPr lang="en-US" sz="3200" dirty="0"/>
          </a:p>
        </p:txBody>
      </p:sp>
      <p:sp>
        <p:nvSpPr>
          <p:cNvPr id="3" name="Caso 1"/>
          <p:cNvSpPr/>
          <p:nvPr/>
        </p:nvSpPr>
        <p:spPr>
          <a:xfrm>
            <a:off x="457200" y="1325880"/>
            <a:ext cx="4023360" cy="2148840"/>
          </a:xfrm>
          <a:prstGeom prst="roundRect">
            <a:avLst>
              <a:gd name="adj" fmla="val 3404"/>
            </a:avLst>
          </a:prstGeom>
          <a:solidFill>
            <a:schemeClr val="bg1">
              <a:alpha val="92000"/>
            </a:schemeClr>
          </a:solidFill>
          <a:ln w="9525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5400000">
              <a:srgbClr val="7F9DB9">
                <a:alpha val="25000"/>
              </a:srgbClr>
            </a:outerShdw>
          </a:effectLst>
        </p:spPr>
      </p:sp>
      <p:sp>
        <p:nvSpPr>
          <p:cNvPr id="4" name="Icone caso 1"/>
          <p:cNvSpPr/>
          <p:nvPr/>
        </p:nvSpPr>
        <p:spPr>
          <a:xfrm>
            <a:off x="685800" y="1554480"/>
            <a:ext cx="685800" cy="68580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pic>
        <p:nvPicPr>
          <p:cNvPr id="5" name="Icone caso 1 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" y="1725930"/>
            <a:ext cx="342900" cy="342900"/>
          </a:xfrm>
          <a:prstGeom prst="rect">
            <a:avLst/>
          </a:prstGeom>
        </p:spPr>
      </p:pic>
      <p:sp>
        <p:nvSpPr>
          <p:cNvPr id="6" name="Titulo caso 1"/>
          <p:cNvSpPr txBox="1"/>
          <p:nvPr/>
        </p:nvSpPr>
        <p:spPr>
          <a:xfrm>
            <a:off x="1554480" y="155448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Indústria automotiva</a:t>
            </a:r>
            <a:endParaRPr lang="en-US" sz="1600" dirty="0"/>
          </a:p>
        </p:txBody>
      </p:sp>
      <p:sp>
        <p:nvSpPr>
          <p:cNvPr id="7" name="Texto caso 1"/>
          <p:cNvSpPr txBox="1"/>
          <p:nvPr/>
        </p:nvSpPr>
        <p:spPr>
          <a:xfrm>
            <a:off x="685800" y="2377440"/>
            <a:ext cx="3566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Na linha da Toyota, o operador puxa a corda Andon. O líder vem em segundos; se não resolver, a linha para.</a:t>
            </a:r>
            <a:endParaRPr lang="en-US" sz="1300" dirty="0"/>
          </a:p>
        </p:txBody>
      </p:sp>
      <p:sp>
        <p:nvSpPr>
          <p:cNvPr id="8" name="Caso 2"/>
          <p:cNvSpPr/>
          <p:nvPr/>
        </p:nvSpPr>
        <p:spPr>
          <a:xfrm>
            <a:off x="4663440" y="1325880"/>
            <a:ext cx="4023360" cy="2148840"/>
          </a:xfrm>
          <a:prstGeom prst="roundRect">
            <a:avLst>
              <a:gd name="adj" fmla="val 3404"/>
            </a:avLst>
          </a:prstGeom>
          <a:solidFill>
            <a:schemeClr val="bg1">
              <a:alpha val="92000"/>
            </a:schemeClr>
          </a:solidFill>
          <a:ln w="9525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5400000">
              <a:srgbClr val="7F9DB9">
                <a:alpha val="25000"/>
              </a:srgbClr>
            </a:outerShdw>
          </a:effectLst>
        </p:spPr>
      </p:sp>
      <p:sp>
        <p:nvSpPr>
          <p:cNvPr id="9" name="Icone caso 2"/>
          <p:cNvSpPr/>
          <p:nvPr/>
        </p:nvSpPr>
        <p:spPr>
          <a:xfrm>
            <a:off x="4892040" y="1554480"/>
            <a:ext cx="685800" cy="68580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pic>
        <p:nvPicPr>
          <p:cNvPr id="10" name="Icone caso 2 i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3490" y="1725930"/>
            <a:ext cx="342900" cy="342900"/>
          </a:xfrm>
          <a:prstGeom prst="rect">
            <a:avLst/>
          </a:prstGeom>
        </p:spPr>
      </p:pic>
      <p:sp>
        <p:nvSpPr>
          <p:cNvPr id="11" name="Titulo caso 2"/>
          <p:cNvSpPr txBox="1"/>
          <p:nvPr/>
        </p:nvSpPr>
        <p:spPr>
          <a:xfrm>
            <a:off x="5760720" y="155448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Indústria: qualidade</a:t>
            </a:r>
            <a:endParaRPr lang="en-US" sz="1600" dirty="0"/>
          </a:p>
        </p:txBody>
      </p:sp>
      <p:sp>
        <p:nvSpPr>
          <p:cNvPr id="12" name="Texto caso 2"/>
          <p:cNvSpPr txBox="1"/>
          <p:nvPr/>
        </p:nvSpPr>
        <p:spPr>
          <a:xfrm>
            <a:off x="4892040" y="2377440"/>
            <a:ext cx="3566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 operador vê peça fora do padrão, aciona o Andon e a qualidade verifica antes de o lote seguir.</a:t>
            </a:r>
            <a:endParaRPr lang="en-US" sz="1300" dirty="0"/>
          </a:p>
        </p:txBody>
      </p:sp>
      <p:sp>
        <p:nvSpPr>
          <p:cNvPr id="13" name="Caso 3"/>
          <p:cNvSpPr/>
          <p:nvPr/>
        </p:nvSpPr>
        <p:spPr>
          <a:xfrm>
            <a:off x="457200" y="3703320"/>
            <a:ext cx="4023360" cy="2148840"/>
          </a:xfrm>
          <a:prstGeom prst="roundRect">
            <a:avLst>
              <a:gd name="adj" fmla="val 3404"/>
            </a:avLst>
          </a:prstGeom>
          <a:solidFill>
            <a:schemeClr val="bg1">
              <a:alpha val="92000"/>
            </a:schemeClr>
          </a:solidFill>
          <a:ln w="9525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5400000">
              <a:srgbClr val="7F9DB9">
                <a:alpha val="25000"/>
              </a:srgbClr>
            </a:outerShdw>
          </a:effectLst>
        </p:spPr>
      </p:sp>
      <p:sp>
        <p:nvSpPr>
          <p:cNvPr id="14" name="Icone caso 3"/>
          <p:cNvSpPr/>
          <p:nvPr/>
        </p:nvSpPr>
        <p:spPr>
          <a:xfrm>
            <a:off x="685800" y="3931920"/>
            <a:ext cx="685800" cy="685800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pic>
        <p:nvPicPr>
          <p:cNvPr id="15" name="Icone caso 3 i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" y="4103370"/>
            <a:ext cx="342900" cy="342900"/>
          </a:xfrm>
          <a:prstGeom prst="rect">
            <a:avLst/>
          </a:prstGeom>
        </p:spPr>
      </p:pic>
      <p:sp>
        <p:nvSpPr>
          <p:cNvPr id="16" name="Titulo caso 3"/>
          <p:cNvSpPr txBox="1"/>
          <p:nvPr/>
        </p:nvSpPr>
        <p:spPr>
          <a:xfrm>
            <a:off x="1554480" y="39319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Serviço: supermercado</a:t>
            </a:r>
            <a:endParaRPr lang="en-US" sz="1600" dirty="0"/>
          </a:p>
        </p:txBody>
      </p:sp>
      <p:sp>
        <p:nvSpPr>
          <p:cNvPr id="17" name="Texto caso 3"/>
          <p:cNvSpPr txBox="1"/>
          <p:nvPr/>
        </p:nvSpPr>
        <p:spPr>
          <a:xfrm>
            <a:off x="685800" y="4754880"/>
            <a:ext cx="3566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 luz acima do caixa chama o fiscal para troco, preço ou cancelamento, sem o caixa sair do posto.</a:t>
            </a:r>
            <a:endParaRPr lang="en-US" sz="1300" dirty="0"/>
          </a:p>
        </p:txBody>
      </p:sp>
      <p:sp>
        <p:nvSpPr>
          <p:cNvPr id="18" name="Caso 4"/>
          <p:cNvSpPr/>
          <p:nvPr/>
        </p:nvSpPr>
        <p:spPr>
          <a:xfrm>
            <a:off x="4663440" y="3703320"/>
            <a:ext cx="4023360" cy="2148840"/>
          </a:xfrm>
          <a:prstGeom prst="roundRect">
            <a:avLst>
              <a:gd name="adj" fmla="val 3404"/>
            </a:avLst>
          </a:prstGeom>
          <a:solidFill>
            <a:schemeClr val="bg1">
              <a:alpha val="92000"/>
            </a:schemeClr>
          </a:solidFill>
          <a:ln w="9525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5400000">
              <a:srgbClr val="7F9DB9">
                <a:alpha val="25000"/>
              </a:srgbClr>
            </a:outerShdw>
          </a:effectLst>
        </p:spPr>
      </p:sp>
      <p:sp>
        <p:nvSpPr>
          <p:cNvPr id="19" name="Icone caso 4"/>
          <p:cNvSpPr/>
          <p:nvPr/>
        </p:nvSpPr>
        <p:spPr>
          <a:xfrm>
            <a:off x="4892040" y="3931920"/>
            <a:ext cx="685800" cy="685800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pic>
        <p:nvPicPr>
          <p:cNvPr id="20" name="Icone caso 4 i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3490" y="4103370"/>
            <a:ext cx="342900" cy="342900"/>
          </a:xfrm>
          <a:prstGeom prst="rect">
            <a:avLst/>
          </a:prstGeom>
        </p:spPr>
      </p:pic>
      <p:sp>
        <p:nvSpPr>
          <p:cNvPr id="21" name="Titulo caso 4"/>
          <p:cNvSpPr txBox="1"/>
          <p:nvPr/>
        </p:nvSpPr>
        <p:spPr>
          <a:xfrm>
            <a:off x="5760720" y="39319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Serviço: atendimento</a:t>
            </a:r>
            <a:endParaRPr lang="en-US" sz="1600" dirty="0"/>
          </a:p>
        </p:txBody>
      </p:sp>
      <p:sp>
        <p:nvSpPr>
          <p:cNvPr id="22" name="Texto caso 4"/>
          <p:cNvSpPr txBox="1"/>
          <p:nvPr/>
        </p:nvSpPr>
        <p:spPr>
          <a:xfrm>
            <a:off x="4892040" y="4754880"/>
            <a:ext cx="3566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 atendente aciona um alerta no sistema e o supervisor vê na hora e vai ajudar.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Exemplo: central de atendimento</a:t>
            </a:r>
            <a:endParaRPr lang="en-US" sz="3200" dirty="0"/>
          </a:p>
        </p:txBody>
      </p:sp>
      <p:sp>
        <p:nvSpPr>
          <p:cNvPr id="3" name="Passo 1"/>
          <p:cNvSpPr/>
          <p:nvPr/>
        </p:nvSpPr>
        <p:spPr>
          <a:xfrm>
            <a:off x="457200" y="1463040"/>
            <a:ext cx="1874520" cy="2743200"/>
          </a:xfrm>
          <a:prstGeom prst="roundRect">
            <a:avLst>
              <a:gd name="adj" fmla="val 3902"/>
            </a:avLst>
          </a:prstGeom>
          <a:solidFill>
            <a:schemeClr val="bg1">
              <a:alpha val="92000"/>
            </a:schemeClr>
          </a:solidFill>
          <a:ln w="9525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5400000">
              <a:srgbClr val="7F9DB9">
                <a:alpha val="25000"/>
              </a:srgbClr>
            </a:outerShdw>
          </a:effectLst>
        </p:spPr>
      </p:sp>
      <p:sp>
        <p:nvSpPr>
          <p:cNvPr id="4" name="Icone passo 1"/>
          <p:cNvSpPr/>
          <p:nvPr/>
        </p:nvSpPr>
        <p:spPr>
          <a:xfrm>
            <a:off x="978408" y="1691640"/>
            <a:ext cx="822960" cy="82296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pic>
        <p:nvPicPr>
          <p:cNvPr id="5" name="Icone passo 1 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4148" y="1897380"/>
            <a:ext cx="411480" cy="411480"/>
          </a:xfrm>
          <a:prstGeom prst="rect">
            <a:avLst/>
          </a:prstGeom>
        </p:spPr>
      </p:pic>
      <p:sp>
        <p:nvSpPr>
          <p:cNvPr id="6" name="Titulo passo 1"/>
          <p:cNvSpPr txBox="1"/>
          <p:nvPr/>
        </p:nvSpPr>
        <p:spPr>
          <a:xfrm>
            <a:off x="548640" y="26517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Atendente</a:t>
            </a:r>
            <a:endParaRPr lang="en-US" sz="1600" dirty="0"/>
          </a:p>
        </p:txBody>
      </p:sp>
      <p:sp>
        <p:nvSpPr>
          <p:cNvPr id="7" name="Texto passo 1"/>
          <p:cNvSpPr txBox="1"/>
          <p:nvPr/>
        </p:nvSpPr>
        <p:spPr>
          <a:xfrm>
            <a:off x="594360" y="3063240"/>
            <a:ext cx="1600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recebe cliente com problema urgente e aciona o alerta</a:t>
            </a:r>
            <a:endParaRPr lang="en-US" sz="1300" dirty="0"/>
          </a:p>
        </p:txBody>
      </p:sp>
      <p:sp>
        <p:nvSpPr>
          <p:cNvPr id="8" name="Passo 2"/>
          <p:cNvSpPr/>
          <p:nvPr/>
        </p:nvSpPr>
        <p:spPr>
          <a:xfrm>
            <a:off x="2560320" y="1463040"/>
            <a:ext cx="1874520" cy="2743200"/>
          </a:xfrm>
          <a:prstGeom prst="roundRect">
            <a:avLst>
              <a:gd name="adj" fmla="val 3902"/>
            </a:avLst>
          </a:prstGeom>
          <a:solidFill>
            <a:schemeClr val="bg1">
              <a:alpha val="92000"/>
            </a:schemeClr>
          </a:solidFill>
          <a:ln w="9525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5400000">
              <a:srgbClr val="7F9DB9">
                <a:alpha val="25000"/>
              </a:srgbClr>
            </a:outerShdw>
          </a:effectLst>
        </p:spPr>
      </p:sp>
      <p:sp>
        <p:nvSpPr>
          <p:cNvPr id="9" name="Icone passo 2"/>
          <p:cNvSpPr/>
          <p:nvPr/>
        </p:nvSpPr>
        <p:spPr>
          <a:xfrm>
            <a:off x="3081528" y="1691640"/>
            <a:ext cx="822960" cy="822960"/>
          </a:xfrm>
          <a:prstGeom prst="ellipse">
            <a:avLst/>
          </a:prstGeom>
          <a:solidFill>
            <a:srgbClr val="E6B800"/>
          </a:solidFill>
          <a:ln w="12700">
            <a:solidFill>
              <a:srgbClr val="E6B800"/>
            </a:solidFill>
            <a:prstDash val="solid"/>
          </a:ln>
        </p:spPr>
      </p:sp>
      <p:pic>
        <p:nvPicPr>
          <p:cNvPr id="10" name="Icone passo 2 i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7268" y="1897380"/>
            <a:ext cx="411480" cy="411480"/>
          </a:xfrm>
          <a:prstGeom prst="rect">
            <a:avLst/>
          </a:prstGeom>
        </p:spPr>
      </p:pic>
      <p:sp>
        <p:nvSpPr>
          <p:cNvPr id="11" name="Titulo passo 2"/>
          <p:cNvSpPr txBox="1"/>
          <p:nvPr/>
        </p:nvSpPr>
        <p:spPr>
          <a:xfrm>
            <a:off x="2651760" y="26517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Supervisor</a:t>
            </a:r>
            <a:endParaRPr lang="en-US" sz="1600" dirty="0"/>
          </a:p>
        </p:txBody>
      </p:sp>
      <p:sp>
        <p:nvSpPr>
          <p:cNvPr id="12" name="Texto passo 2"/>
          <p:cNvSpPr txBox="1"/>
          <p:nvPr/>
        </p:nvSpPr>
        <p:spPr>
          <a:xfrm>
            <a:off x="2697480" y="3063240"/>
            <a:ext cx="1600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vê o alerta na hora e vai ajudar</a:t>
            </a:r>
            <a:endParaRPr lang="en-US" sz="1300" dirty="0"/>
          </a:p>
        </p:txBody>
      </p:sp>
      <p:sp>
        <p:nvSpPr>
          <p:cNvPr id="13" name="Passo 3"/>
          <p:cNvSpPr/>
          <p:nvPr/>
        </p:nvSpPr>
        <p:spPr>
          <a:xfrm>
            <a:off x="4663440" y="1463040"/>
            <a:ext cx="1874520" cy="2743200"/>
          </a:xfrm>
          <a:prstGeom prst="roundRect">
            <a:avLst>
              <a:gd name="adj" fmla="val 3902"/>
            </a:avLst>
          </a:prstGeom>
          <a:solidFill>
            <a:schemeClr val="bg1">
              <a:alpha val="92000"/>
            </a:schemeClr>
          </a:solidFill>
          <a:ln w="9525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5400000">
              <a:srgbClr val="7F9DB9">
                <a:alpha val="25000"/>
              </a:srgbClr>
            </a:outerShdw>
          </a:effectLst>
        </p:spPr>
      </p:sp>
      <p:sp>
        <p:nvSpPr>
          <p:cNvPr id="14" name="Icone passo 3"/>
          <p:cNvSpPr/>
          <p:nvPr/>
        </p:nvSpPr>
        <p:spPr>
          <a:xfrm>
            <a:off x="5184648" y="1691640"/>
            <a:ext cx="822960" cy="822960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pic>
        <p:nvPicPr>
          <p:cNvPr id="15" name="Icone passo 3 i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0388" y="1897380"/>
            <a:ext cx="411480" cy="411480"/>
          </a:xfrm>
          <a:prstGeom prst="rect">
            <a:avLst/>
          </a:prstGeom>
        </p:spPr>
      </p:pic>
      <p:sp>
        <p:nvSpPr>
          <p:cNvPr id="16" name="Titulo passo 3"/>
          <p:cNvSpPr txBox="1"/>
          <p:nvPr/>
        </p:nvSpPr>
        <p:spPr>
          <a:xfrm>
            <a:off x="4754880" y="26517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Cliente</a:t>
            </a:r>
            <a:endParaRPr lang="en-US" sz="1600" dirty="0"/>
          </a:p>
        </p:txBody>
      </p:sp>
      <p:sp>
        <p:nvSpPr>
          <p:cNvPr id="17" name="Texto passo 3"/>
          <p:cNvSpPr txBox="1"/>
          <p:nvPr/>
        </p:nvSpPr>
        <p:spPr>
          <a:xfrm>
            <a:off x="4800600" y="3063240"/>
            <a:ext cx="1600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tem o problema resolvido sem esperar</a:t>
            </a:r>
            <a:endParaRPr lang="en-US" sz="1300" dirty="0"/>
          </a:p>
        </p:txBody>
      </p:sp>
      <p:sp>
        <p:nvSpPr>
          <p:cNvPr id="18" name="Passo 4"/>
          <p:cNvSpPr/>
          <p:nvPr/>
        </p:nvSpPr>
        <p:spPr>
          <a:xfrm>
            <a:off x="6766560" y="1463040"/>
            <a:ext cx="1874520" cy="2743200"/>
          </a:xfrm>
          <a:prstGeom prst="roundRect">
            <a:avLst>
              <a:gd name="adj" fmla="val 3902"/>
            </a:avLst>
          </a:prstGeom>
          <a:solidFill>
            <a:schemeClr val="bg1">
              <a:alpha val="92000"/>
            </a:schemeClr>
          </a:solidFill>
          <a:ln w="9525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5400000">
              <a:srgbClr val="7F9DB9">
                <a:alpha val="25000"/>
              </a:srgbClr>
            </a:outerShdw>
          </a:effectLst>
        </p:spPr>
      </p:sp>
      <p:sp>
        <p:nvSpPr>
          <p:cNvPr id="19" name="Icone passo 4"/>
          <p:cNvSpPr/>
          <p:nvPr/>
        </p:nvSpPr>
        <p:spPr>
          <a:xfrm>
            <a:off x="7287768" y="1691640"/>
            <a:ext cx="822960" cy="822960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pic>
        <p:nvPicPr>
          <p:cNvPr id="20" name="Icone passo 4 i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3508" y="1897380"/>
            <a:ext cx="411480" cy="411480"/>
          </a:xfrm>
          <a:prstGeom prst="rect">
            <a:avLst/>
          </a:prstGeom>
        </p:spPr>
      </p:pic>
      <p:sp>
        <p:nvSpPr>
          <p:cNvPr id="21" name="Titulo passo 4"/>
          <p:cNvSpPr txBox="1"/>
          <p:nvPr/>
        </p:nvSpPr>
        <p:spPr>
          <a:xfrm>
            <a:off x="6858000" y="26517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Registro</a:t>
            </a:r>
            <a:endParaRPr lang="en-US" sz="1600" dirty="0"/>
          </a:p>
        </p:txBody>
      </p:sp>
      <p:sp>
        <p:nvSpPr>
          <p:cNvPr id="22" name="Texto passo 4"/>
          <p:cNvSpPr txBox="1"/>
          <p:nvPr/>
        </p:nvSpPr>
        <p:spPr>
          <a:xfrm>
            <a:off x="6903720" y="3063240"/>
            <a:ext cx="1600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mostra quais problemas se repetem</a:t>
            </a:r>
            <a:endParaRPr lang="en-US" sz="1300" dirty="0"/>
          </a:p>
        </p:txBody>
      </p:sp>
      <p:sp>
        <p:nvSpPr>
          <p:cNvPr id="23" name="Cartao principio"/>
          <p:cNvSpPr/>
          <p:nvPr/>
        </p:nvSpPr>
        <p:spPr>
          <a:xfrm>
            <a:off x="457200" y="4617720"/>
            <a:ext cx="8229600" cy="1051560"/>
          </a:xfrm>
          <a:prstGeom prst="roundRect">
            <a:avLst>
              <a:gd name="adj" fmla="val 6957"/>
            </a:avLst>
          </a:prstGeom>
          <a:solidFill>
            <a:schemeClr val="bg1">
              <a:alpha val="92000"/>
            </a:schemeClr>
          </a:solidFill>
          <a:ln w="9525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5400000">
              <a:srgbClr val="7F9DB9">
                <a:alpha val="25000"/>
              </a:srgbClr>
            </a:outerShdw>
          </a:effectLst>
        </p:spPr>
      </p:sp>
      <p:sp>
        <p:nvSpPr>
          <p:cNvPr id="24" name="Principio"/>
          <p:cNvSpPr txBox="1"/>
          <p:nvPr/>
        </p:nvSpPr>
        <p:spPr>
          <a:xfrm>
            <a:off x="731520" y="461772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Mesmo princípio da fábrica: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sinalizar, chamar ajuda e registrar.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Prática: linha de triângulos de papel</a:t>
            </a:r>
            <a:endParaRPr lang="en-US" sz="3200" dirty="0"/>
          </a:p>
        </p:txBody>
      </p:sp>
      <p:sp>
        <p:nvSpPr>
          <p:cNvPr id="3" name="Titulo papeis"/>
          <p:cNvSpPr txBox="1"/>
          <p:nvPr/>
        </p:nvSpPr>
        <p:spPr>
          <a:xfrm>
            <a:off x="457200" y="12801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Quem faz o quê</a:t>
            </a:r>
            <a:endParaRPr lang="en-US" sz="1800" dirty="0"/>
          </a:p>
        </p:txBody>
      </p:sp>
      <p:sp>
        <p:nvSpPr>
          <p:cNvPr id="4" name="Papel 1"/>
          <p:cNvSpPr/>
          <p:nvPr/>
        </p:nvSpPr>
        <p:spPr>
          <a:xfrm>
            <a:off x="457200" y="1783080"/>
            <a:ext cx="3931920" cy="868680"/>
          </a:xfrm>
          <a:prstGeom prst="roundRect">
            <a:avLst>
              <a:gd name="adj" fmla="val 8421"/>
            </a:avLst>
          </a:prstGeom>
          <a:solidFill>
            <a:schemeClr val="bg1">
              <a:alpha val="92000"/>
            </a:schemeClr>
          </a:solidFill>
          <a:ln w="9525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5400000">
              <a:srgbClr val="7F9DB9">
                <a:alpha val="25000"/>
              </a:srgbClr>
            </a:outerShdw>
          </a:effectLst>
        </p:spPr>
      </p:sp>
      <p:sp>
        <p:nvSpPr>
          <p:cNvPr id="5" name="Icone papel 1"/>
          <p:cNvSpPr/>
          <p:nvPr/>
        </p:nvSpPr>
        <p:spPr>
          <a:xfrm>
            <a:off x="594360" y="1901952"/>
            <a:ext cx="640080" cy="64008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pic>
        <p:nvPicPr>
          <p:cNvPr id="6" name="Icone papel 1 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2061972"/>
            <a:ext cx="320040" cy="320040"/>
          </a:xfrm>
          <a:prstGeom prst="rect">
            <a:avLst/>
          </a:prstGeom>
        </p:spPr>
      </p:pic>
      <p:sp>
        <p:nvSpPr>
          <p:cNvPr id="7" name="Texto papel 1"/>
          <p:cNvSpPr txBox="1"/>
          <p:nvPr/>
        </p:nvSpPr>
        <p:spPr>
          <a:xfrm>
            <a:off x="1371600" y="17830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Integrante 1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Operador da montagem</a:t>
            </a:r>
            <a:endParaRPr lang="en-US" sz="1400" dirty="0"/>
          </a:p>
        </p:txBody>
      </p:sp>
      <p:sp>
        <p:nvSpPr>
          <p:cNvPr id="8" name="Papel 2"/>
          <p:cNvSpPr/>
          <p:nvPr/>
        </p:nvSpPr>
        <p:spPr>
          <a:xfrm>
            <a:off x="457200" y="2807208"/>
            <a:ext cx="3931920" cy="868680"/>
          </a:xfrm>
          <a:prstGeom prst="roundRect">
            <a:avLst>
              <a:gd name="adj" fmla="val 8421"/>
            </a:avLst>
          </a:prstGeom>
          <a:solidFill>
            <a:schemeClr val="bg1">
              <a:alpha val="92000"/>
            </a:schemeClr>
          </a:solidFill>
          <a:ln w="9525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5400000">
              <a:srgbClr val="7F9DB9">
                <a:alpha val="25000"/>
              </a:srgbClr>
            </a:outerShdw>
          </a:effectLst>
        </p:spPr>
      </p:sp>
      <p:sp>
        <p:nvSpPr>
          <p:cNvPr id="9" name="Icone papel 2"/>
          <p:cNvSpPr/>
          <p:nvPr/>
        </p:nvSpPr>
        <p:spPr>
          <a:xfrm>
            <a:off x="594360" y="2926080"/>
            <a:ext cx="640080" cy="64008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pic>
        <p:nvPicPr>
          <p:cNvPr id="10" name="Icone papel 2 i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" y="3086100"/>
            <a:ext cx="320040" cy="320040"/>
          </a:xfrm>
          <a:prstGeom prst="rect">
            <a:avLst/>
          </a:prstGeom>
        </p:spPr>
      </p:pic>
      <p:sp>
        <p:nvSpPr>
          <p:cNvPr id="11" name="Texto papel 2"/>
          <p:cNvSpPr txBox="1"/>
          <p:nvPr/>
        </p:nvSpPr>
        <p:spPr>
          <a:xfrm>
            <a:off x="1371600" y="2807208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Integrante 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Inspeção e apoio à dinâmica</a:t>
            </a:r>
            <a:endParaRPr lang="en-US" sz="1400" dirty="0"/>
          </a:p>
        </p:txBody>
      </p:sp>
      <p:sp>
        <p:nvSpPr>
          <p:cNvPr id="12" name="Papel 3"/>
          <p:cNvSpPr/>
          <p:nvPr/>
        </p:nvSpPr>
        <p:spPr>
          <a:xfrm>
            <a:off x="457200" y="3831336"/>
            <a:ext cx="3931920" cy="868680"/>
          </a:xfrm>
          <a:prstGeom prst="roundRect">
            <a:avLst>
              <a:gd name="adj" fmla="val 8421"/>
            </a:avLst>
          </a:prstGeom>
          <a:solidFill>
            <a:schemeClr val="bg1">
              <a:alpha val="92000"/>
            </a:schemeClr>
          </a:solidFill>
          <a:ln w="9525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5400000">
              <a:srgbClr val="7F9DB9">
                <a:alpha val="25000"/>
              </a:srgbClr>
            </a:outerShdw>
          </a:effectLst>
        </p:spPr>
      </p:sp>
      <p:sp>
        <p:nvSpPr>
          <p:cNvPr id="13" name="Icone papel 3"/>
          <p:cNvSpPr/>
          <p:nvPr/>
        </p:nvSpPr>
        <p:spPr>
          <a:xfrm>
            <a:off x="594360" y="3950208"/>
            <a:ext cx="640080" cy="64008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pic>
        <p:nvPicPr>
          <p:cNvPr id="14" name="Icone papel 3 i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4110228"/>
            <a:ext cx="320040" cy="320040"/>
          </a:xfrm>
          <a:prstGeom prst="rect">
            <a:avLst/>
          </a:prstGeom>
        </p:spPr>
      </p:pic>
      <p:sp>
        <p:nvSpPr>
          <p:cNvPr id="15" name="Texto papel 3"/>
          <p:cNvSpPr txBox="1"/>
          <p:nvPr/>
        </p:nvSpPr>
        <p:spPr>
          <a:xfrm>
            <a:off x="1371600" y="3831336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Integrante 3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Logística (reposição)</a:t>
            </a:r>
            <a:endParaRPr lang="en-US" sz="1400" dirty="0"/>
          </a:p>
        </p:txBody>
      </p:sp>
      <p:sp>
        <p:nvSpPr>
          <p:cNvPr id="16" name="Papel 4"/>
          <p:cNvSpPr/>
          <p:nvPr/>
        </p:nvSpPr>
        <p:spPr>
          <a:xfrm>
            <a:off x="457200" y="4855464"/>
            <a:ext cx="3931920" cy="868680"/>
          </a:xfrm>
          <a:prstGeom prst="roundRect">
            <a:avLst>
              <a:gd name="adj" fmla="val 8421"/>
            </a:avLst>
          </a:prstGeom>
          <a:solidFill>
            <a:schemeClr val="bg1">
              <a:alpha val="92000"/>
            </a:schemeClr>
          </a:solidFill>
          <a:ln w="9525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5400000">
              <a:srgbClr val="7F9DB9">
                <a:alpha val="25000"/>
              </a:srgbClr>
            </a:outerShdw>
          </a:effectLst>
        </p:spPr>
      </p:sp>
      <p:sp>
        <p:nvSpPr>
          <p:cNvPr id="17" name="Icone papel 4"/>
          <p:cNvSpPr/>
          <p:nvPr/>
        </p:nvSpPr>
        <p:spPr>
          <a:xfrm>
            <a:off x="594360" y="4974336"/>
            <a:ext cx="640080" cy="64008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pic>
        <p:nvPicPr>
          <p:cNvPr id="18" name="Icone papel 4 i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" y="5134356"/>
            <a:ext cx="320040" cy="320040"/>
          </a:xfrm>
          <a:prstGeom prst="rect">
            <a:avLst/>
          </a:prstGeom>
        </p:spPr>
      </p:pic>
      <p:sp>
        <p:nvSpPr>
          <p:cNvPr id="19" name="Texto papel 4"/>
          <p:cNvSpPr txBox="1"/>
          <p:nvPr/>
        </p:nvSpPr>
        <p:spPr>
          <a:xfrm>
            <a:off x="1371600" y="4855464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Integrante 4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Simulador e explicação</a:t>
            </a:r>
            <a:endParaRPr lang="en-US" sz="1400" dirty="0"/>
          </a:p>
        </p:txBody>
      </p:sp>
      <p:sp>
        <p:nvSpPr>
          <p:cNvPr id="20" name="Titulo simulador"/>
          <p:cNvSpPr txBox="1"/>
          <p:nvPr/>
        </p:nvSpPr>
        <p:spPr>
          <a:xfrm>
            <a:off x="4754880" y="12801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 simulador</a:t>
            </a:r>
            <a:endParaRPr lang="en-US" sz="1800" dirty="0"/>
          </a:p>
        </p:txBody>
      </p:sp>
      <p:sp>
        <p:nvSpPr>
          <p:cNvPr id="21" name="Camada HTML"/>
          <p:cNvSpPr/>
          <p:nvPr/>
        </p:nvSpPr>
        <p:spPr>
          <a:xfrm>
            <a:off x="4754880" y="1783080"/>
            <a:ext cx="3931920" cy="868680"/>
          </a:xfrm>
          <a:prstGeom prst="roundRect">
            <a:avLst>
              <a:gd name="adj" fmla="val 8421"/>
            </a:avLst>
          </a:prstGeom>
          <a:solidFill>
            <a:schemeClr val="bg1">
              <a:alpha val="92000"/>
            </a:schemeClr>
          </a:solidFill>
          <a:ln w="9525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5400000">
              <a:srgbClr val="7F9DB9">
                <a:alpha val="25000"/>
              </a:srgbClr>
            </a:outerShdw>
          </a:effectLst>
        </p:spPr>
      </p:sp>
      <p:sp>
        <p:nvSpPr>
          <p:cNvPr id="22" name="Icone HTML"/>
          <p:cNvSpPr/>
          <p:nvPr/>
        </p:nvSpPr>
        <p:spPr>
          <a:xfrm>
            <a:off x="4892040" y="1901952"/>
            <a:ext cx="640080" cy="64008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pic>
        <p:nvPicPr>
          <p:cNvPr id="23" name="Icone HTML i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52060" y="2061972"/>
            <a:ext cx="320040" cy="320040"/>
          </a:xfrm>
          <a:prstGeom prst="rect">
            <a:avLst/>
          </a:prstGeom>
        </p:spPr>
      </p:pic>
      <p:sp>
        <p:nvSpPr>
          <p:cNvPr id="24" name="Texto HTML"/>
          <p:cNvSpPr txBox="1"/>
          <p:nvPr/>
        </p:nvSpPr>
        <p:spPr>
          <a:xfrm>
            <a:off x="5669280" y="17830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HTML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Estrutura: campos, botões, painel, torre e histórico</a:t>
            </a:r>
            <a:endParaRPr lang="en-US" sz="1400" dirty="0"/>
          </a:p>
        </p:txBody>
      </p:sp>
      <p:sp>
        <p:nvSpPr>
          <p:cNvPr id="25" name="Camada CSS"/>
          <p:cNvSpPr/>
          <p:nvPr/>
        </p:nvSpPr>
        <p:spPr>
          <a:xfrm>
            <a:off x="4754880" y="2807208"/>
            <a:ext cx="3931920" cy="868680"/>
          </a:xfrm>
          <a:prstGeom prst="roundRect">
            <a:avLst>
              <a:gd name="adj" fmla="val 8421"/>
            </a:avLst>
          </a:prstGeom>
          <a:solidFill>
            <a:schemeClr val="bg1">
              <a:alpha val="92000"/>
            </a:schemeClr>
          </a:solidFill>
          <a:ln w="9525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5400000">
              <a:srgbClr val="7F9DB9">
                <a:alpha val="25000"/>
              </a:srgbClr>
            </a:outerShdw>
          </a:effectLst>
        </p:spPr>
      </p:sp>
      <p:sp>
        <p:nvSpPr>
          <p:cNvPr id="26" name="Icone CSS"/>
          <p:cNvSpPr/>
          <p:nvPr/>
        </p:nvSpPr>
        <p:spPr>
          <a:xfrm>
            <a:off x="4892040" y="2926080"/>
            <a:ext cx="640080" cy="640080"/>
          </a:xfrm>
          <a:prstGeom prst="ellipse">
            <a:avLst/>
          </a:prstGeom>
          <a:solidFill>
            <a:srgbClr val="E6B800"/>
          </a:solidFill>
          <a:ln w="12700">
            <a:solidFill>
              <a:srgbClr val="E6B800"/>
            </a:solidFill>
            <a:prstDash val="solid"/>
          </a:ln>
        </p:spPr>
      </p:sp>
      <p:pic>
        <p:nvPicPr>
          <p:cNvPr id="27" name="Icone CSS icon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52060" y="3086100"/>
            <a:ext cx="320040" cy="320040"/>
          </a:xfrm>
          <a:prstGeom prst="rect">
            <a:avLst/>
          </a:prstGeom>
        </p:spPr>
      </p:pic>
      <p:sp>
        <p:nvSpPr>
          <p:cNvPr id="28" name="Texto CSS"/>
          <p:cNvSpPr txBox="1"/>
          <p:nvPr/>
        </p:nvSpPr>
        <p:spPr>
          <a:xfrm>
            <a:off x="5669280" y="2807208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CSS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Aparência: cores, painéis, luzes e ajuste à tela</a:t>
            </a:r>
            <a:endParaRPr lang="en-US" sz="1400" dirty="0"/>
          </a:p>
        </p:txBody>
      </p:sp>
      <p:sp>
        <p:nvSpPr>
          <p:cNvPr id="29" name="Camada JavaScript"/>
          <p:cNvSpPr/>
          <p:nvPr/>
        </p:nvSpPr>
        <p:spPr>
          <a:xfrm>
            <a:off x="4754880" y="3831336"/>
            <a:ext cx="3931920" cy="868680"/>
          </a:xfrm>
          <a:prstGeom prst="roundRect">
            <a:avLst>
              <a:gd name="adj" fmla="val 8421"/>
            </a:avLst>
          </a:prstGeom>
          <a:solidFill>
            <a:schemeClr val="bg1">
              <a:alpha val="92000"/>
            </a:schemeClr>
          </a:solidFill>
          <a:ln w="9525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5400000">
              <a:srgbClr val="7F9DB9">
                <a:alpha val="25000"/>
              </a:srgbClr>
            </a:outerShdw>
          </a:effectLst>
        </p:spPr>
      </p:sp>
      <p:sp>
        <p:nvSpPr>
          <p:cNvPr id="30" name="Icone JavaScript"/>
          <p:cNvSpPr/>
          <p:nvPr/>
        </p:nvSpPr>
        <p:spPr>
          <a:xfrm>
            <a:off x="4892040" y="3950208"/>
            <a:ext cx="640080" cy="640080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pic>
        <p:nvPicPr>
          <p:cNvPr id="31" name="Icone JavaScript i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52060" y="4110228"/>
            <a:ext cx="320040" cy="320040"/>
          </a:xfrm>
          <a:prstGeom prst="rect">
            <a:avLst/>
          </a:prstGeom>
        </p:spPr>
      </p:pic>
      <p:sp>
        <p:nvSpPr>
          <p:cNvPr id="32" name="Texto JavaScript"/>
          <p:cNvSpPr txBox="1"/>
          <p:nvPr/>
        </p:nvSpPr>
        <p:spPr>
          <a:xfrm>
            <a:off x="5669280" y="3831336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JavaScript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Funcionamento: abre chamados, muda status e luzes, conta e registra</a:t>
            </a:r>
            <a:endParaRPr lang="en-US" sz="1400" dirty="0"/>
          </a:p>
        </p:txBody>
      </p:sp>
      <p:sp>
        <p:nvSpPr>
          <p:cNvPr id="33" name="Aviso didatico"/>
          <p:cNvSpPr/>
          <p:nvPr/>
        </p:nvSpPr>
        <p:spPr>
          <a:xfrm>
            <a:off x="4754880" y="4855464"/>
            <a:ext cx="3931920" cy="868680"/>
          </a:xfrm>
          <a:prstGeom prst="roundRect">
            <a:avLst>
              <a:gd name="adj" fmla="val 8421"/>
            </a:avLst>
          </a:prstGeom>
          <a:solidFill>
            <a:schemeClr val="bg1">
              <a:alpha val="92000"/>
            </a:schemeClr>
          </a:solidFill>
          <a:ln w="9525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5400000">
              <a:srgbClr val="7F9DB9">
                <a:alpha val="25000"/>
              </a:srgbClr>
            </a:outerShdw>
          </a:effectLst>
        </p:spPr>
      </p:sp>
      <p:sp>
        <p:nvSpPr>
          <p:cNvPr id="34" name="Texto aviso"/>
          <p:cNvSpPr txBox="1"/>
          <p:nvPr/>
        </p:nvSpPr>
        <p:spPr>
          <a:xfrm>
            <a:off x="4937760" y="4855464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Protótipo didático: registra os chamados. A reposição e a produção acontecem na mesa.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A dinâmica em 5 etapas</a:t>
            </a:r>
            <a:endParaRPr lang="en-US" sz="3200" dirty="0"/>
          </a:p>
        </p:txBody>
      </p:sp>
      <p:sp>
        <p:nvSpPr>
          <p:cNvPr id="3" name="Etapa pratica 1"/>
          <p:cNvSpPr/>
          <p:nvPr/>
        </p:nvSpPr>
        <p:spPr>
          <a:xfrm>
            <a:off x="457200" y="1280160"/>
            <a:ext cx="8229600" cy="822960"/>
          </a:xfrm>
          <a:prstGeom prst="roundRect">
            <a:avLst>
              <a:gd name="adj" fmla="val 8889"/>
            </a:avLst>
          </a:prstGeom>
          <a:solidFill>
            <a:schemeClr val="bg1">
              <a:alpha val="92000"/>
            </a:schemeClr>
          </a:solidFill>
          <a:ln w="9525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5400000">
              <a:srgbClr val="7F9DB9">
                <a:alpha val="25000"/>
              </a:srgbClr>
            </a:outerShdw>
          </a:effectLst>
        </p:spPr>
      </p:sp>
      <p:sp>
        <p:nvSpPr>
          <p:cNvPr id="4" name="Luz etapa 1"/>
          <p:cNvSpPr/>
          <p:nvPr/>
        </p:nvSpPr>
        <p:spPr>
          <a:xfrm>
            <a:off x="640080" y="1389888"/>
            <a:ext cx="603504" cy="603504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5" name="Numero etapa 1"/>
          <p:cNvSpPr txBox="1"/>
          <p:nvPr/>
        </p:nvSpPr>
        <p:spPr>
          <a:xfrm>
            <a:off x="640080" y="138988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itulo etapa pratica 1"/>
          <p:cNvSpPr txBox="1"/>
          <p:nvPr/>
        </p:nvSpPr>
        <p:spPr>
          <a:xfrm>
            <a:off x="1463040" y="128016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Produção</a:t>
            </a:r>
            <a:endParaRPr lang="en-US" sz="1700" dirty="0"/>
          </a:p>
        </p:txBody>
      </p:sp>
      <p:sp>
        <p:nvSpPr>
          <p:cNvPr id="7" name="Texto etapa pratica 1"/>
          <p:cNvSpPr txBox="1"/>
          <p:nvPr/>
        </p:nvSpPr>
        <p:spPr>
          <a:xfrm>
            <a:off x="3383280" y="128016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Operador monta, inspeção confere.</a:t>
            </a:r>
            <a:endParaRPr lang="en-US" sz="1400" dirty="0"/>
          </a:p>
        </p:txBody>
      </p:sp>
      <p:sp>
        <p:nvSpPr>
          <p:cNvPr id="8" name="Etapa pratica 2"/>
          <p:cNvSpPr/>
          <p:nvPr/>
        </p:nvSpPr>
        <p:spPr>
          <a:xfrm>
            <a:off x="457200" y="2258568"/>
            <a:ext cx="8229600" cy="822960"/>
          </a:xfrm>
          <a:prstGeom prst="roundRect">
            <a:avLst>
              <a:gd name="adj" fmla="val 8889"/>
            </a:avLst>
          </a:prstGeom>
          <a:solidFill>
            <a:schemeClr val="bg1">
              <a:alpha val="92000"/>
            </a:schemeClr>
          </a:solidFill>
          <a:ln w="9525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5400000">
              <a:srgbClr val="7F9DB9">
                <a:alpha val="25000"/>
              </a:srgbClr>
            </a:outerShdw>
          </a:effectLst>
        </p:spPr>
      </p:sp>
      <p:sp>
        <p:nvSpPr>
          <p:cNvPr id="9" name="Luz etapa 2"/>
          <p:cNvSpPr/>
          <p:nvPr/>
        </p:nvSpPr>
        <p:spPr>
          <a:xfrm>
            <a:off x="640080" y="2368296"/>
            <a:ext cx="603504" cy="603504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Numero etapa 2"/>
          <p:cNvSpPr txBox="1"/>
          <p:nvPr/>
        </p:nvSpPr>
        <p:spPr>
          <a:xfrm>
            <a:off x="640080" y="236829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1" name="Titulo etapa pratica 2"/>
          <p:cNvSpPr txBox="1"/>
          <p:nvPr/>
        </p:nvSpPr>
        <p:spPr>
          <a:xfrm>
            <a:off x="1463040" y="2258568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Problema</a:t>
            </a:r>
            <a:endParaRPr lang="en-US" sz="1700" dirty="0"/>
          </a:p>
        </p:txBody>
      </p:sp>
      <p:sp>
        <p:nvSpPr>
          <p:cNvPr id="12" name="Texto etapa pratica 2"/>
          <p:cNvSpPr txBox="1"/>
          <p:nvPr/>
        </p:nvSpPr>
        <p:spPr>
          <a:xfrm>
            <a:off x="3383280" y="2258568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 papel acaba. O operador para e levanta a mão.</a:t>
            </a:r>
            <a:endParaRPr lang="en-US" sz="1400" dirty="0"/>
          </a:p>
        </p:txBody>
      </p:sp>
      <p:sp>
        <p:nvSpPr>
          <p:cNvPr id="13" name="Etapa pratica 3"/>
          <p:cNvSpPr/>
          <p:nvPr/>
        </p:nvSpPr>
        <p:spPr>
          <a:xfrm>
            <a:off x="457200" y="3236976"/>
            <a:ext cx="8229600" cy="822960"/>
          </a:xfrm>
          <a:prstGeom prst="roundRect">
            <a:avLst>
              <a:gd name="adj" fmla="val 8889"/>
            </a:avLst>
          </a:prstGeom>
          <a:solidFill>
            <a:schemeClr val="bg1">
              <a:alpha val="92000"/>
            </a:schemeClr>
          </a:solidFill>
          <a:ln w="9525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5400000">
              <a:srgbClr val="7F9DB9">
                <a:alpha val="25000"/>
              </a:srgbClr>
            </a:outerShdw>
          </a:effectLst>
        </p:spPr>
      </p:sp>
      <p:sp>
        <p:nvSpPr>
          <p:cNvPr id="14" name="Luz etapa 3"/>
          <p:cNvSpPr/>
          <p:nvPr/>
        </p:nvSpPr>
        <p:spPr>
          <a:xfrm>
            <a:off x="640080" y="3346704"/>
            <a:ext cx="603504" cy="603504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5" name="Numero etapa 3"/>
          <p:cNvSpPr txBox="1"/>
          <p:nvPr/>
        </p:nvSpPr>
        <p:spPr>
          <a:xfrm>
            <a:off x="640080" y="334670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6" name="Titulo etapa pratica 3"/>
          <p:cNvSpPr txBox="1"/>
          <p:nvPr/>
        </p:nvSpPr>
        <p:spPr>
          <a:xfrm>
            <a:off x="1463040" y="3236976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Acionamento</a:t>
            </a:r>
            <a:endParaRPr lang="en-US" sz="1700" dirty="0"/>
          </a:p>
        </p:txBody>
      </p:sp>
      <p:sp>
        <p:nvSpPr>
          <p:cNvPr id="17" name="Texto etapa pratica 3"/>
          <p:cNvSpPr txBox="1"/>
          <p:nvPr/>
        </p:nvSpPr>
        <p:spPr>
          <a:xfrm>
            <a:off x="3383280" y="3236976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Chamado para a Logística: P-03, falta de material, prioridade alta.</a:t>
            </a:r>
            <a:endParaRPr lang="en-US" sz="1400" dirty="0"/>
          </a:p>
        </p:txBody>
      </p:sp>
      <p:sp>
        <p:nvSpPr>
          <p:cNvPr id="18" name="Etapa pratica 4"/>
          <p:cNvSpPr/>
          <p:nvPr/>
        </p:nvSpPr>
        <p:spPr>
          <a:xfrm>
            <a:off x="457200" y="4215384"/>
            <a:ext cx="8229600" cy="822960"/>
          </a:xfrm>
          <a:prstGeom prst="roundRect">
            <a:avLst>
              <a:gd name="adj" fmla="val 8889"/>
            </a:avLst>
          </a:prstGeom>
          <a:solidFill>
            <a:schemeClr val="bg1">
              <a:alpha val="92000"/>
            </a:schemeClr>
          </a:solidFill>
          <a:ln w="9525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5400000">
              <a:srgbClr val="7F9DB9">
                <a:alpha val="25000"/>
              </a:srgbClr>
            </a:outerShdw>
          </a:effectLst>
        </p:spPr>
      </p:sp>
      <p:sp>
        <p:nvSpPr>
          <p:cNvPr id="19" name="Luz etapa 4"/>
          <p:cNvSpPr/>
          <p:nvPr/>
        </p:nvSpPr>
        <p:spPr>
          <a:xfrm>
            <a:off x="640080" y="4325112"/>
            <a:ext cx="603504" cy="603504"/>
          </a:xfrm>
          <a:prstGeom prst="ellipse">
            <a:avLst/>
          </a:prstGeom>
          <a:solidFill>
            <a:srgbClr val="E6B800"/>
          </a:solidFill>
          <a:ln w="12700">
            <a:solidFill>
              <a:srgbClr val="E6B800"/>
            </a:solidFill>
            <a:prstDash val="solid"/>
          </a:ln>
        </p:spPr>
      </p:sp>
      <p:sp>
        <p:nvSpPr>
          <p:cNvPr id="20" name="Numero etapa 4"/>
          <p:cNvSpPr txBox="1"/>
          <p:nvPr/>
        </p:nvSpPr>
        <p:spPr>
          <a:xfrm>
            <a:off x="640080" y="432511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4</a:t>
            </a:r>
            <a:endParaRPr lang="en-US" sz="2000" dirty="0"/>
          </a:p>
        </p:txBody>
      </p:sp>
      <p:sp>
        <p:nvSpPr>
          <p:cNvPr id="21" name="Titulo etapa pratica 4"/>
          <p:cNvSpPr txBox="1"/>
          <p:nvPr/>
        </p:nvSpPr>
        <p:spPr>
          <a:xfrm>
            <a:off x="1463040" y="4215384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Atendimento</a:t>
            </a:r>
            <a:endParaRPr lang="en-US" sz="1700" dirty="0"/>
          </a:p>
        </p:txBody>
      </p:sp>
      <p:sp>
        <p:nvSpPr>
          <p:cNvPr id="22" name="Texto etapa pratica 4"/>
          <p:cNvSpPr txBox="1"/>
          <p:nvPr/>
        </p:nvSpPr>
        <p:spPr>
          <a:xfrm>
            <a:off x="3383280" y="4215384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Logística assume o chamado e repõe o papel.</a:t>
            </a:r>
            <a:endParaRPr lang="en-US" sz="1400" dirty="0"/>
          </a:p>
        </p:txBody>
      </p:sp>
      <p:sp>
        <p:nvSpPr>
          <p:cNvPr id="23" name="Etapa pratica 5"/>
          <p:cNvSpPr/>
          <p:nvPr/>
        </p:nvSpPr>
        <p:spPr>
          <a:xfrm>
            <a:off x="457200" y="5193792"/>
            <a:ext cx="8229600" cy="822960"/>
          </a:xfrm>
          <a:prstGeom prst="roundRect">
            <a:avLst>
              <a:gd name="adj" fmla="val 8889"/>
            </a:avLst>
          </a:prstGeom>
          <a:solidFill>
            <a:schemeClr val="bg1">
              <a:alpha val="92000"/>
            </a:schemeClr>
          </a:solidFill>
          <a:ln w="9525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5400000">
              <a:srgbClr val="7F9DB9">
                <a:alpha val="25000"/>
              </a:srgbClr>
            </a:outerShdw>
          </a:effectLst>
        </p:spPr>
      </p:sp>
      <p:sp>
        <p:nvSpPr>
          <p:cNvPr id="24" name="Luz etapa 5"/>
          <p:cNvSpPr/>
          <p:nvPr/>
        </p:nvSpPr>
        <p:spPr>
          <a:xfrm>
            <a:off x="640080" y="5303520"/>
            <a:ext cx="603504" cy="603504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25" name="Numero etapa 5"/>
          <p:cNvSpPr txBox="1"/>
          <p:nvPr/>
        </p:nvSpPr>
        <p:spPr>
          <a:xfrm>
            <a:off x="640080" y="530352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5</a:t>
            </a:r>
            <a:endParaRPr lang="en-US" sz="2000" dirty="0"/>
          </a:p>
        </p:txBody>
      </p:sp>
      <p:sp>
        <p:nvSpPr>
          <p:cNvPr id="26" name="Titulo etapa pratica 5"/>
          <p:cNvSpPr txBox="1"/>
          <p:nvPr/>
        </p:nvSpPr>
        <p:spPr>
          <a:xfrm>
            <a:off x="1463040" y="5193792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Resolução</a:t>
            </a:r>
            <a:endParaRPr lang="en-US" sz="1700" dirty="0"/>
          </a:p>
        </p:txBody>
      </p:sp>
      <p:sp>
        <p:nvSpPr>
          <p:cNvPr id="27" name="Texto etapa pratica 5"/>
          <p:cNvSpPr txBox="1"/>
          <p:nvPr/>
        </p:nvSpPr>
        <p:spPr>
          <a:xfrm>
            <a:off x="3383280" y="5193792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Produção retomada. O histórico mostra o tempo total.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Pergunta para a turma</a:t>
            </a:r>
            <a:endParaRPr lang="en-US" sz="3200" dirty="0"/>
          </a:p>
        </p:txBody>
      </p:sp>
      <p:sp>
        <p:nvSpPr>
          <p:cNvPr id="3" name="Icone pergunta"/>
          <p:cNvSpPr/>
          <p:nvPr/>
        </p:nvSpPr>
        <p:spPr>
          <a:xfrm>
            <a:off x="457200" y="1463040"/>
            <a:ext cx="1188720" cy="118872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pic>
        <p:nvPicPr>
          <p:cNvPr id="4" name="Icone pergunta 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760220"/>
            <a:ext cx="594360" cy="594360"/>
          </a:xfrm>
          <a:prstGeom prst="rect">
            <a:avLst/>
          </a:prstGeom>
        </p:spPr>
      </p:pic>
      <p:sp>
        <p:nvSpPr>
          <p:cNvPr id="5" name="Pergunta"/>
          <p:cNvSpPr txBox="1"/>
          <p:nvPr/>
        </p:nvSpPr>
        <p:spPr>
          <a:xfrm>
            <a:off x="1920240" y="1371600"/>
            <a:ext cx="6675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O que poderia acontecer se o operador não tivesse como sinalizar a falta de material?</a:t>
            </a:r>
            <a:endParaRPr lang="en-US" sz="2400" dirty="0"/>
          </a:p>
        </p:txBody>
      </p:sp>
      <p:sp>
        <p:nvSpPr>
          <p:cNvPr id="6" name="Consequencia 1"/>
          <p:cNvSpPr/>
          <p:nvPr/>
        </p:nvSpPr>
        <p:spPr>
          <a:xfrm>
            <a:off x="457200" y="3291840"/>
            <a:ext cx="1874520" cy="2103120"/>
          </a:xfrm>
          <a:prstGeom prst="roundRect">
            <a:avLst>
              <a:gd name="adj" fmla="val 3902"/>
            </a:avLst>
          </a:prstGeom>
          <a:solidFill>
            <a:schemeClr val="bg1">
              <a:alpha val="92000"/>
            </a:schemeClr>
          </a:solidFill>
          <a:ln w="9525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5400000">
              <a:srgbClr val="7F9DB9">
                <a:alpha val="25000"/>
              </a:srgbClr>
            </a:outerShdw>
          </a:effectLst>
        </p:spPr>
      </p:sp>
      <p:sp>
        <p:nvSpPr>
          <p:cNvPr id="7" name="Icone consequencia 1"/>
          <p:cNvSpPr/>
          <p:nvPr/>
        </p:nvSpPr>
        <p:spPr>
          <a:xfrm>
            <a:off x="1051560" y="3520440"/>
            <a:ext cx="685800" cy="68580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pic>
        <p:nvPicPr>
          <p:cNvPr id="8" name="Icone consequencia 1 i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010" y="3691890"/>
            <a:ext cx="342900" cy="342900"/>
          </a:xfrm>
          <a:prstGeom prst="rect">
            <a:avLst/>
          </a:prstGeom>
        </p:spPr>
      </p:pic>
      <p:sp>
        <p:nvSpPr>
          <p:cNvPr id="9" name="Texto consequencia 1"/>
          <p:cNvSpPr txBox="1"/>
          <p:nvPr/>
        </p:nvSpPr>
        <p:spPr>
          <a:xfrm>
            <a:off x="594360" y="434340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Problema percebido mais tarde</a:t>
            </a:r>
            <a:endParaRPr lang="en-US" sz="1400" dirty="0"/>
          </a:p>
        </p:txBody>
      </p:sp>
      <p:sp>
        <p:nvSpPr>
          <p:cNvPr id="10" name="Consequencia 2"/>
          <p:cNvSpPr/>
          <p:nvPr/>
        </p:nvSpPr>
        <p:spPr>
          <a:xfrm>
            <a:off x="2560320" y="3291840"/>
            <a:ext cx="1874520" cy="2103120"/>
          </a:xfrm>
          <a:prstGeom prst="roundRect">
            <a:avLst>
              <a:gd name="adj" fmla="val 3902"/>
            </a:avLst>
          </a:prstGeom>
          <a:solidFill>
            <a:schemeClr val="bg1">
              <a:alpha val="92000"/>
            </a:schemeClr>
          </a:solidFill>
          <a:ln w="9525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5400000">
              <a:srgbClr val="7F9DB9">
                <a:alpha val="25000"/>
              </a:srgbClr>
            </a:outerShdw>
          </a:effectLst>
        </p:spPr>
      </p:sp>
      <p:sp>
        <p:nvSpPr>
          <p:cNvPr id="11" name="Icone consequencia 2"/>
          <p:cNvSpPr/>
          <p:nvPr/>
        </p:nvSpPr>
        <p:spPr>
          <a:xfrm>
            <a:off x="3154680" y="3520440"/>
            <a:ext cx="685800" cy="68580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pic>
        <p:nvPicPr>
          <p:cNvPr id="12" name="Icone consequencia 2 i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6130" y="3691890"/>
            <a:ext cx="342900" cy="342900"/>
          </a:xfrm>
          <a:prstGeom prst="rect">
            <a:avLst/>
          </a:prstGeom>
        </p:spPr>
      </p:pic>
      <p:sp>
        <p:nvSpPr>
          <p:cNvPr id="13" name="Texto consequencia 2"/>
          <p:cNvSpPr txBox="1"/>
          <p:nvPr/>
        </p:nvSpPr>
        <p:spPr>
          <a:xfrm>
            <a:off x="2697480" y="434340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Tempo de parada maior</a:t>
            </a:r>
            <a:endParaRPr lang="en-US" sz="1400" dirty="0"/>
          </a:p>
        </p:txBody>
      </p:sp>
      <p:sp>
        <p:nvSpPr>
          <p:cNvPr id="14" name="Consequencia 3"/>
          <p:cNvSpPr/>
          <p:nvPr/>
        </p:nvSpPr>
        <p:spPr>
          <a:xfrm>
            <a:off x="4663440" y="3291840"/>
            <a:ext cx="1874520" cy="2103120"/>
          </a:xfrm>
          <a:prstGeom prst="roundRect">
            <a:avLst>
              <a:gd name="adj" fmla="val 3902"/>
            </a:avLst>
          </a:prstGeom>
          <a:solidFill>
            <a:schemeClr val="bg1">
              <a:alpha val="92000"/>
            </a:schemeClr>
          </a:solidFill>
          <a:ln w="9525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5400000">
              <a:srgbClr val="7F9DB9">
                <a:alpha val="25000"/>
              </a:srgbClr>
            </a:outerShdw>
          </a:effectLst>
        </p:spPr>
      </p:sp>
      <p:sp>
        <p:nvSpPr>
          <p:cNvPr id="15" name="Icone consequencia 3"/>
          <p:cNvSpPr/>
          <p:nvPr/>
        </p:nvSpPr>
        <p:spPr>
          <a:xfrm>
            <a:off x="5257800" y="3520440"/>
            <a:ext cx="685800" cy="68580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pic>
        <p:nvPicPr>
          <p:cNvPr id="16" name="Icone consequencia 3 i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9250" y="3691890"/>
            <a:ext cx="342900" cy="342900"/>
          </a:xfrm>
          <a:prstGeom prst="rect">
            <a:avLst/>
          </a:prstGeom>
        </p:spPr>
      </p:pic>
      <p:sp>
        <p:nvSpPr>
          <p:cNvPr id="17" name="Texto consequencia 3"/>
          <p:cNvSpPr txBox="1"/>
          <p:nvPr/>
        </p:nvSpPr>
        <p:spPr>
          <a:xfrm>
            <a:off x="4800600" y="434340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Produtos incompletos acumulados</a:t>
            </a:r>
            <a:endParaRPr lang="en-US" sz="1400" dirty="0"/>
          </a:p>
        </p:txBody>
      </p:sp>
      <p:sp>
        <p:nvSpPr>
          <p:cNvPr id="18" name="Consequencia 4"/>
          <p:cNvSpPr/>
          <p:nvPr/>
        </p:nvSpPr>
        <p:spPr>
          <a:xfrm>
            <a:off x="6766560" y="3291840"/>
            <a:ext cx="1874520" cy="2103120"/>
          </a:xfrm>
          <a:prstGeom prst="roundRect">
            <a:avLst>
              <a:gd name="adj" fmla="val 3902"/>
            </a:avLst>
          </a:prstGeom>
          <a:solidFill>
            <a:schemeClr val="bg1">
              <a:alpha val="92000"/>
            </a:schemeClr>
          </a:solidFill>
          <a:ln w="9525">
            <a:solidFill>
              <a:srgbClr val="D6E4F0"/>
            </a:solidFill>
            <a:prstDash val="solid"/>
          </a:ln>
          <a:effectLst>
            <a:outerShdw sx="100000" sy="100000" kx="0" ky="0" algn="bl" rotWithShape="0" blurRad="76200" dist="25400" dir="5400000">
              <a:srgbClr val="7F9DB9">
                <a:alpha val="25000"/>
              </a:srgbClr>
            </a:outerShdw>
          </a:effectLst>
        </p:spPr>
      </p:sp>
      <p:sp>
        <p:nvSpPr>
          <p:cNvPr id="19" name="Icone consequencia 4"/>
          <p:cNvSpPr/>
          <p:nvPr/>
        </p:nvSpPr>
        <p:spPr>
          <a:xfrm>
            <a:off x="7360920" y="3520440"/>
            <a:ext cx="685800" cy="68580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pic>
        <p:nvPicPr>
          <p:cNvPr id="20" name="Icone consequencia 4 i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32370" y="3691890"/>
            <a:ext cx="342900" cy="342900"/>
          </a:xfrm>
          <a:prstGeom prst="rect">
            <a:avLst/>
          </a:prstGeom>
        </p:spPr>
      </p:pic>
      <p:sp>
        <p:nvSpPr>
          <p:cNvPr id="21" name="Texto consequencia 4"/>
          <p:cNvSpPr txBox="1"/>
          <p:nvPr/>
        </p:nvSpPr>
        <p:spPr>
          <a:xfrm>
            <a:off x="6903720" y="434340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Atraso na entrega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91440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O Andon sinaliza.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A equipe resolve.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246888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Para funcionar, todos precisam saber:</a:t>
            </a:r>
            <a:endParaRPr lang="en-US" sz="1800" dirty="0"/>
          </a:p>
        </p:txBody>
      </p:sp>
      <p:sp>
        <p:nvSpPr>
          <p:cNvPr id="4" name="Luz fechamento 1"/>
          <p:cNvSpPr/>
          <p:nvPr/>
        </p:nvSpPr>
        <p:spPr>
          <a:xfrm>
            <a:off x="457200" y="3246120"/>
            <a:ext cx="457200" cy="45720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5" name="Item fechamento 1"/>
          <p:cNvSpPr txBox="1"/>
          <p:nvPr/>
        </p:nvSpPr>
        <p:spPr>
          <a:xfrm>
            <a:off x="1097280" y="32461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Quando acionar</a:t>
            </a:r>
            <a:endParaRPr lang="en-US" sz="1800" dirty="0"/>
          </a:p>
        </p:txBody>
      </p:sp>
      <p:sp>
        <p:nvSpPr>
          <p:cNvPr id="6" name="Luz fechamento 2"/>
          <p:cNvSpPr/>
          <p:nvPr/>
        </p:nvSpPr>
        <p:spPr>
          <a:xfrm>
            <a:off x="457200" y="3931920"/>
            <a:ext cx="457200" cy="457200"/>
          </a:xfrm>
          <a:prstGeom prst="ellipse">
            <a:avLst/>
          </a:prstGeom>
          <a:solidFill>
            <a:srgbClr val="E6B800"/>
          </a:solidFill>
          <a:ln w="12700">
            <a:solidFill>
              <a:srgbClr val="E6B800"/>
            </a:solidFill>
            <a:prstDash val="solid"/>
          </a:ln>
        </p:spPr>
      </p:sp>
      <p:sp>
        <p:nvSpPr>
          <p:cNvPr id="7" name="Item fechamento 2"/>
          <p:cNvSpPr txBox="1"/>
          <p:nvPr/>
        </p:nvSpPr>
        <p:spPr>
          <a:xfrm>
            <a:off x="1097280" y="39319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Quem deve responder</a:t>
            </a:r>
            <a:endParaRPr lang="en-US" sz="1800" dirty="0"/>
          </a:p>
        </p:txBody>
      </p:sp>
      <p:sp>
        <p:nvSpPr>
          <p:cNvPr id="8" name="Luz fechamento 3"/>
          <p:cNvSpPr/>
          <p:nvPr/>
        </p:nvSpPr>
        <p:spPr>
          <a:xfrm>
            <a:off x="457200" y="4617720"/>
            <a:ext cx="457200" cy="457200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9" name="Item fechamento 3"/>
          <p:cNvSpPr txBox="1"/>
          <p:nvPr/>
        </p:nvSpPr>
        <p:spPr>
          <a:xfrm>
            <a:off x="1097280" y="46177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Como registrar e resolver</a:t>
            </a:r>
            <a:endParaRPr lang="en-US" sz="1800" dirty="0"/>
          </a:p>
        </p:txBody>
      </p:sp>
      <p:sp>
        <p:nvSpPr>
          <p:cNvPr id="10" name="Agradecimento"/>
          <p:cNvSpPr txBox="1"/>
          <p:nvPr/>
        </p:nvSpPr>
        <p:spPr>
          <a:xfrm>
            <a:off x="457200" y="5486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Obrigado! Perguntas?</a:t>
            </a:r>
            <a:endParaRPr lang="en-US" sz="2200" dirty="0"/>
          </a:p>
        </p:txBody>
      </p:sp>
      <p:sp>
        <p:nvSpPr>
          <p:cNvPr id="11" name="Credito template"/>
          <p:cNvSpPr txBox="1"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</a:rPr>
              <a:t>Template visual: PoweredTemplate.com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ndon PCP II">
  <a:themeElements>
    <a:clrScheme name="Andon PCP II">
      <a:dk1>
        <a:srgbClr val="1A1A1A"/>
      </a:dk1>
      <a:lt1>
        <a:srgbClr val="FFFFFF"/>
      </a:lt1>
      <a:dk2>
        <a:srgbClr val="1F3864"/>
      </a:dk2>
      <a:lt2>
        <a:srgbClr val="EAF2FB"/>
      </a:lt2>
      <a:accent1>
        <a:srgbClr val="2E75B6"/>
      </a:accent1>
      <a:accent2>
        <a:srgbClr val="C0392B"/>
      </a:accent2>
      <a:accent3>
        <a:srgbClr val="E6B800"/>
      </a:accent3>
      <a:accent4>
        <a:srgbClr val="27AE60"/>
      </a:accent4>
      <a:accent5>
        <a:srgbClr val="5B9BD5"/>
      </a:accent5>
      <a:accent6>
        <a:srgbClr val="7F7F7F"/>
      </a:accent6>
      <a:hlink>
        <a:srgbClr val="2E75B6"/>
      </a:hlink>
      <a:folHlink>
        <a:srgbClr val="1F3864"/>
      </a:folHlink>
    </a:clrScheme>
    <a:fontScheme name="Andon PCP II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Andon: sinalizar, chamar e registrar</dc:title>
  <dc:subject>AP2 - Planejamento e Controle da Produção II</dc:subject>
  <dc:creator>Sophia, Jaqueline, Tereza e Kellyson</dc:creator>
  <cp:lastModifiedBy>Sophia, Jaqueline, Tereza e Kellyson</cp:lastModifiedBy>
  <cp:revision>1</cp:revision>
  <dcterms:created xsi:type="dcterms:W3CDTF">2026-10-17T20:11:28Z</dcterms:created>
  <dcterms:modified xsi:type="dcterms:W3CDTF">2026-10-17T20:11:28Z</dcterms:modified>
</cp:coreProperties>
</file>